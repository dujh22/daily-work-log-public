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 id="2147483653" r:id="rId4"/>
    <p:sldMasterId id="2147483655" r:id="rId5"/>
    <p:sldMasterId id="2147483657" r:id="rId6"/>
    <p:sldMasterId id="2147483659" r:id="rId7"/>
    <p:sldMasterId id="2147483663" r:id="rId8"/>
    <p:sldMasterId id="2147483665" r:id="rId9"/>
  </p:sldMasterIdLst>
  <p:notesMasterIdLst>
    <p:notesMasterId r:id="rId11"/>
  </p:notesMasterIdLst>
  <p:handoutMasterIdLst>
    <p:handoutMasterId r:id="rId19"/>
  </p:handoutMasterIdLst>
  <p:sldIdLst>
    <p:sldId id="256" r:id="rId10"/>
    <p:sldId id="269" r:id="rId12"/>
    <p:sldId id="445" r:id="rId13"/>
    <p:sldId id="441" r:id="rId14"/>
    <p:sldId id="446" r:id="rId15"/>
    <p:sldId id="440" r:id="rId16"/>
    <p:sldId id="439" r:id="rId17"/>
    <p:sldId id="259"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1" userDrawn="1">
          <p15:clr>
            <a:srgbClr val="A4A3A4"/>
          </p15:clr>
        </p15:guide>
        <p15:guide id="2" pos="277" userDrawn="1">
          <p15:clr>
            <a:srgbClr val="A4A3A4"/>
          </p15:clr>
        </p15:guide>
        <p15:guide id="3" pos="5455" userDrawn="1">
          <p15:clr>
            <a:srgbClr val="A4A3A4"/>
          </p15:clr>
        </p15:guide>
        <p15:guide id="4" pos="415" userDrawn="1">
          <p15:clr>
            <a:srgbClr val="A4A3A4"/>
          </p15:clr>
        </p15:guide>
        <p15:guide id="5" pos="53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7030A0"/>
    <a:srgbClr val="FDFCFE"/>
    <a:srgbClr val="E6E6E6"/>
    <a:srgbClr val="F1EAF6"/>
    <a:srgbClr val="C7ABDB"/>
    <a:srgbClr val="934BC9"/>
    <a:srgbClr val="D9D9D9"/>
    <a:srgbClr val="5675D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1" autoAdjust="0"/>
    <p:restoredTop sz="89150" autoAdjust="0"/>
  </p:normalViewPr>
  <p:slideViewPr>
    <p:cSldViewPr snapToGrid="0" showGuides="1">
      <p:cViewPr varScale="1">
        <p:scale>
          <a:sx n="140" d="100"/>
          <a:sy n="140" d="100"/>
        </p:scale>
        <p:origin x="960" y="184"/>
      </p:cViewPr>
      <p:guideLst>
        <p:guide orient="horz" pos="1791"/>
        <p:guide pos="277"/>
        <p:guide pos="5455"/>
        <p:guide pos="415"/>
        <p:guide pos="5321"/>
      </p:guideLst>
    </p:cSldViewPr>
  </p:slideViewPr>
  <p:notesTextViewPr>
    <p:cViewPr>
      <p:scale>
        <a:sx n="1" d="1"/>
        <a:sy n="1" d="1"/>
      </p:scale>
      <p:origin x="0" y="0"/>
    </p:cViewPr>
  </p:notesTextViewPr>
  <p:sorterViewPr>
    <p:cViewPr varScale="1">
      <p:scale>
        <a:sx n="1" d="1"/>
        <a:sy n="1" d="1"/>
      </p:scale>
      <p:origin x="0" y="-1121"/>
    </p:cViewPr>
  </p:sorterViewPr>
  <p:notesViewPr>
    <p:cSldViewPr snapToGrid="0">
      <p:cViewPr varScale="1">
        <p:scale>
          <a:sx n="83" d="100"/>
          <a:sy n="83" d="100"/>
        </p:scale>
        <p:origin x="2784" y="21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D50EFB-16C1-DE4C-A63D-4EBBE8AF3244}"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kumimoji="1" lang="zh-CN" altLang="en-US"/>
              <a:t>autoservey</a:t>
            </a:r>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99BA68-8C8D-984F-B8C4-C4D0335816D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53404-5F31-8942-B60F-74FACFF4A57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kumimoji="1" lang="zh-CN" altLang="en-US"/>
              <a:t>autoservey</a:t>
            </a:r>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3EDB35-54F6-9A4F-B416-21BDAE246BF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脚占位符 3"/>
          <p:cNvSpPr>
            <a:spLocks noGrp="1"/>
          </p:cNvSpPr>
          <p:nvPr>
            <p:ph type="ftr" sz="quarter" idx="4"/>
          </p:nvPr>
        </p:nvSpPr>
        <p:spPr/>
        <p:txBody>
          <a:bodyPr/>
          <a:lstStyle/>
          <a:p>
            <a:r>
              <a:rPr kumimoji="1" lang="zh-CN" altLang="en-US"/>
              <a:t>autoservey</a:t>
            </a:r>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3EDB35-54F6-9A4F-B416-21BDAE246BF3}"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3EDB35-54F6-9A4F-B416-21BDAE246BF3}"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33EDB35-54F6-9A4F-B416-21BDAE246BF3}"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33EDB35-54F6-9A4F-B416-21BDAE246BF3}"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5" name="页脚占位符 4"/>
          <p:cNvSpPr>
            <a:spLocks noGrp="1"/>
          </p:cNvSpPr>
          <p:nvPr>
            <p:ph type="ftr" sz="quarter" idx="4"/>
          </p:nvPr>
        </p:nvSpPr>
        <p:spPr/>
        <p:txBody>
          <a:bodyPr/>
          <a:lstStyle/>
          <a:p>
            <a:r>
              <a:rPr kumimoji="1" lang="zh-CN" altLang="en-US"/>
              <a:t>autoservey</a:t>
            </a:r>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5" name="页脚占位符 4"/>
          <p:cNvSpPr>
            <a:spLocks noGrp="1"/>
          </p:cNvSpPr>
          <p:nvPr>
            <p:ph type="ftr" sz="quarter" idx="4"/>
          </p:nvPr>
        </p:nvSpPr>
        <p:spPr/>
        <p:txBody>
          <a:bodyPr/>
          <a:lstStyle/>
          <a:p>
            <a:r>
              <a:rPr kumimoji="1" lang="zh-CN" altLang="en-US"/>
              <a:t>autoservey</a:t>
            </a:r>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脚占位符 3"/>
          <p:cNvSpPr>
            <a:spLocks noGrp="1"/>
          </p:cNvSpPr>
          <p:nvPr>
            <p:ph type="ftr" sz="quarter" idx="4"/>
          </p:nvPr>
        </p:nvSpPr>
        <p:spPr/>
        <p:txBody>
          <a:bodyPr/>
          <a:lstStyle/>
          <a:p>
            <a:r>
              <a:rPr kumimoji="1" lang="zh-CN" altLang="en-US"/>
              <a:t>autoservey</a:t>
            </a:r>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矩形 1"/>
          <p:cNvSpPr/>
          <p:nvPr userDrawn="1"/>
        </p:nvSpPr>
        <p:spPr>
          <a:xfrm>
            <a:off x="0" y="0"/>
            <a:ext cx="9144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0_Title Slide">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2.png"/><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5" Type="http://schemas.openxmlformats.org/officeDocument/2006/relationships/theme" Target="../theme/theme6.xml"/><Relationship Id="rId4" Type="http://schemas.openxmlformats.org/officeDocument/2006/relationships/image" Target="../media/image3.png"/><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0.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image" Target="../media/image4.jpeg"/><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cstate="print"/>
          <a:stretch>
            <a:fillRect/>
          </a:stretch>
        </p:blipFill>
        <p:spPr>
          <a:xfrm>
            <a:off x="0" y="0"/>
            <a:ext cx="9144000" cy="5143500"/>
          </a:xfrm>
          <a:prstGeom prst="rect">
            <a:avLst/>
          </a:prstGeom>
        </p:spPr>
      </p:pic>
      <p:pic>
        <p:nvPicPr>
          <p:cNvPr id="5" name="图片 4"/>
          <p:cNvPicPr>
            <a:picLocks noChangeAspect="1"/>
          </p:cNvPicPr>
          <p:nvPr userDrawn="1"/>
        </p:nvPicPr>
        <p:blipFill rotWithShape="1">
          <a:blip r:embed="rId4" cstate="print"/>
          <a:srcRect/>
          <a:stretch>
            <a:fillRect/>
          </a:stretch>
        </p:blipFill>
        <p:spPr>
          <a:xfrm>
            <a:off x="6444204" y="0"/>
            <a:ext cx="2699796" cy="122204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4" cstate="print"/>
          <a:stretch>
            <a:fillRect/>
          </a:stretch>
        </p:blipFill>
        <p:spPr>
          <a:xfrm>
            <a:off x="-5292" y="-6350"/>
            <a:ext cx="9179984" cy="722486"/>
          </a:xfrm>
          <a:prstGeom prst="rect">
            <a:avLst/>
          </a:prstGeom>
        </p:spPr>
      </p:pic>
      <p:sp>
        <p:nvSpPr>
          <p:cNvPr id="3" name="矩形 2"/>
          <p:cNvSpPr/>
          <p:nvPr userDrawn="1"/>
        </p:nvSpPr>
        <p:spPr>
          <a:xfrm rot="5400000">
            <a:off x="3925868" y="-74628"/>
            <a:ext cx="5143499" cy="5292762"/>
          </a:xfrm>
          <a:prstGeom prst="rect">
            <a:avLst/>
          </a:prstGeom>
          <a:gradFill>
            <a:gsLst>
              <a:gs pos="97000">
                <a:schemeClr val="bg1">
                  <a:alpha val="0"/>
                </a:schemeClr>
              </a:gs>
              <a:gs pos="0">
                <a:srgbClr val="3F8EE1">
                  <a:alpha val="1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Arial" panose="020B0604020202090204"/>
              <a:ea typeface="庞门正道标题体"/>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5.png"/><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7.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2" Type="http://schemas.openxmlformats.org/officeDocument/2006/relationships/notesSlide" Target="../notesSlides/notesSlide4.xml"/><Relationship Id="rId41" Type="http://schemas.openxmlformats.org/officeDocument/2006/relationships/slideLayout" Target="../slideLayouts/slideLayout7.xml"/><Relationship Id="rId40" Type="http://schemas.openxmlformats.org/officeDocument/2006/relationships/tags" Target="../tags/tag49.xml"/><Relationship Id="rId4" Type="http://schemas.openxmlformats.org/officeDocument/2006/relationships/tags" Target="../tags/tag13.xml"/><Relationship Id="rId39" Type="http://schemas.openxmlformats.org/officeDocument/2006/relationships/tags" Target="../tags/tag48.xml"/><Relationship Id="rId38" Type="http://schemas.openxmlformats.org/officeDocument/2006/relationships/tags" Target="../tags/tag47.xml"/><Relationship Id="rId37" Type="http://schemas.openxmlformats.org/officeDocument/2006/relationships/tags" Target="../tags/tag46.xml"/><Relationship Id="rId36" Type="http://schemas.openxmlformats.org/officeDocument/2006/relationships/tags" Target="../tags/tag45.xml"/><Relationship Id="rId35" Type="http://schemas.openxmlformats.org/officeDocument/2006/relationships/tags" Target="../tags/tag44.xml"/><Relationship Id="rId34" Type="http://schemas.openxmlformats.org/officeDocument/2006/relationships/tags" Target="../tags/tag43.xml"/><Relationship Id="rId33" Type="http://schemas.openxmlformats.org/officeDocument/2006/relationships/tags" Target="../tags/tag42.xml"/><Relationship Id="rId32" Type="http://schemas.openxmlformats.org/officeDocument/2006/relationships/tags" Target="../tags/tag41.xml"/><Relationship Id="rId31" Type="http://schemas.openxmlformats.org/officeDocument/2006/relationships/tags" Target="../tags/tag40.xml"/><Relationship Id="rId30" Type="http://schemas.openxmlformats.org/officeDocument/2006/relationships/tags" Target="../tags/tag39.xml"/><Relationship Id="rId3" Type="http://schemas.openxmlformats.org/officeDocument/2006/relationships/tags" Target="../tags/tag12.xml"/><Relationship Id="rId29" Type="http://schemas.openxmlformats.org/officeDocument/2006/relationships/tags" Target="../tags/tag38.xml"/><Relationship Id="rId28" Type="http://schemas.openxmlformats.org/officeDocument/2006/relationships/tags" Target="../tags/tag37.xml"/><Relationship Id="rId27" Type="http://schemas.openxmlformats.org/officeDocument/2006/relationships/tags" Target="../tags/tag36.xml"/><Relationship Id="rId26" Type="http://schemas.openxmlformats.org/officeDocument/2006/relationships/tags" Target="../tags/tag35.xml"/><Relationship Id="rId25" Type="http://schemas.openxmlformats.org/officeDocument/2006/relationships/tags" Target="../tags/tag34.xml"/><Relationship Id="rId24" Type="http://schemas.openxmlformats.org/officeDocument/2006/relationships/tags" Target="../tags/tag33.xml"/><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9" Type="http://schemas.openxmlformats.org/officeDocument/2006/relationships/notesSlide" Target="../notesSlides/notesSlide5.xml"/><Relationship Id="rId28" Type="http://schemas.openxmlformats.org/officeDocument/2006/relationships/slideLayout" Target="../slideLayouts/slideLayout7.xml"/><Relationship Id="rId27" Type="http://schemas.openxmlformats.org/officeDocument/2006/relationships/image" Target="../media/image7.jpeg"/><Relationship Id="rId26" Type="http://schemas.openxmlformats.org/officeDocument/2006/relationships/tags" Target="../tags/tag74.xml"/><Relationship Id="rId25" Type="http://schemas.openxmlformats.org/officeDocument/2006/relationships/tags" Target="../tags/tag73.xml"/><Relationship Id="rId24" Type="http://schemas.openxmlformats.org/officeDocument/2006/relationships/tags" Target="../tags/tag72.xml"/><Relationship Id="rId23" Type="http://schemas.openxmlformats.org/officeDocument/2006/relationships/tags" Target="../tags/tag71.xml"/><Relationship Id="rId22" Type="http://schemas.openxmlformats.org/officeDocument/2006/relationships/tags" Target="../tags/tag70.xml"/><Relationship Id="rId21" Type="http://schemas.openxmlformats.org/officeDocument/2006/relationships/tags" Target="../tags/tag69.xml"/><Relationship Id="rId20" Type="http://schemas.openxmlformats.org/officeDocument/2006/relationships/tags" Target="../tags/tag68.xml"/><Relationship Id="rId2" Type="http://schemas.openxmlformats.org/officeDocument/2006/relationships/tags" Target="../tags/tag50.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image" Target="../media/image5.png"/><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6" Type="http://schemas.openxmlformats.org/officeDocument/2006/relationships/notesSlide" Target="../notesSlides/notesSlide6.xml"/><Relationship Id="rId15" Type="http://schemas.openxmlformats.org/officeDocument/2006/relationships/slideLayout" Target="../slideLayouts/slideLayout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5.xml"/></Relationships>
</file>

<file path=ppt/slides/_rels/slide7.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image" Target="../media/image5.png"/><Relationship Id="rId2" Type="http://schemas.openxmlformats.org/officeDocument/2006/relationships/image" Target="../media/image8.png"/><Relationship Id="rId16" Type="http://schemas.openxmlformats.org/officeDocument/2006/relationships/notesSlide" Target="../notesSlides/notesSlide7.xml"/><Relationship Id="rId15" Type="http://schemas.openxmlformats.org/officeDocument/2006/relationships/slideLayout" Target="../slideLayouts/slideLayout8.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65441" y="432527"/>
            <a:ext cx="5780115" cy="521970"/>
          </a:xfrm>
          <a:prstGeom prst="rect">
            <a:avLst/>
          </a:prstGeom>
          <a:noFill/>
        </p:spPr>
        <p:txBody>
          <a:bodyPr wrap="square">
            <a:spAutoFit/>
          </a:bodyPr>
          <a:lstStyle/>
          <a:p>
            <a:r>
              <a:rPr lang="zh-CN" altLang="en-US" sz="28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PuHuiTi M" pitchFamily="18" charset="-122"/>
              </a:rPr>
              <a:t>计研五三班</a:t>
            </a:r>
            <a:r>
              <a:rPr lang="en-US" altLang="zh-CN" sz="28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PuHuiTi M" pitchFamily="18" charset="-122"/>
              </a:rPr>
              <a:t>-1</a:t>
            </a:r>
            <a:r>
              <a:rPr lang="zh-CN" altLang="en-US" sz="28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PuHuiTi M" pitchFamily="18" charset="-122"/>
              </a:rPr>
              <a:t>月德育交流</a:t>
            </a:r>
            <a:r>
              <a:rPr lang="zh-CN" altLang="en-US" sz="28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PuHuiTi M" pitchFamily="18" charset="-122"/>
              </a:rPr>
              <a:t>活动</a:t>
            </a:r>
            <a:endParaRPr lang="zh-CN" altLang="en-US" sz="28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PuHuiTi M" pitchFamily="18" charset="-122"/>
            </a:endParaRPr>
          </a:p>
        </p:txBody>
      </p:sp>
      <p:sp>
        <p:nvSpPr>
          <p:cNvPr id="10" name="文本框 9"/>
          <p:cNvSpPr txBox="1"/>
          <p:nvPr/>
        </p:nvSpPr>
        <p:spPr>
          <a:xfrm>
            <a:off x="377190" y="1419860"/>
            <a:ext cx="3516630" cy="337185"/>
          </a:xfrm>
          <a:prstGeom prst="rect">
            <a:avLst/>
          </a:prstGeom>
          <a:noFill/>
        </p:spPr>
        <p:txBody>
          <a:bodyPr wrap="square">
            <a:spAutoFit/>
          </a:bodyPr>
          <a:lstStyle/>
          <a:p>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分享人：周卞思宁</a:t>
            </a:r>
            <a:endPar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p:cNvSpPr txBox="1"/>
          <p:nvPr/>
        </p:nvSpPr>
        <p:spPr>
          <a:xfrm>
            <a:off x="371303" y="1804921"/>
            <a:ext cx="2421297" cy="337185"/>
          </a:xfrm>
          <a:prstGeom prst="rect">
            <a:avLst/>
          </a:prstGeom>
          <a:noFill/>
        </p:spPr>
        <p:txBody>
          <a:bodyPr wrap="square">
            <a:spAutoFit/>
          </a:bodyPr>
          <a:lstStyle/>
          <a:p>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日期：</a:t>
            </a:r>
            <a:r>
              <a:rPr lang="en-US" altLang="zh-CN"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2026</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r>
              <a:rPr lang="en-US" altLang="zh-CN"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月</a:t>
            </a:r>
            <a:endPar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p:cNvSpPr/>
          <p:nvPr>
            <p:custDataLst>
              <p:tags r:id="rId1"/>
            </p:custDataLst>
          </p:nvPr>
        </p:nvSpPr>
        <p:spPr bwMode="auto">
          <a:xfrm>
            <a:off x="584873" y="1198310"/>
            <a:ext cx="2491562" cy="3050957"/>
          </a:xfrm>
          <a:prstGeom prst="rect">
            <a:avLst/>
          </a:prstGeom>
          <a:solidFill>
            <a:srgbClr val="D9D9D9">
              <a:alpha val="40000"/>
            </a:srgbClr>
          </a:solidFill>
          <a:ln w="9525">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一教职工与校外黑导勾连，通过</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违规报备</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方式组织团队入校参观并非法牟利，涉案金额大，被公安机关依法行政拘留</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日。根据学校相关管理规定，经研究决定，对该教职工予以</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解聘</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处理。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Flowchart: Document 10"/>
          <p:cNvSpPr/>
          <p:nvPr>
            <p:custDataLst>
              <p:tags r:id="rId2"/>
            </p:custDataLst>
          </p:nvPr>
        </p:nvSpPr>
        <p:spPr bwMode="auto">
          <a:xfrm>
            <a:off x="672821" y="1195834"/>
            <a:ext cx="676327" cy="833642"/>
          </a:xfrm>
          <a:prstGeom prst="flowChartDocumen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微软雅黑" panose="020B0503020204020204" pitchFamily="34" charset="-122"/>
              <a:ea typeface="微软雅黑" panose="020B0503020204020204" pitchFamily="34" charset="-122"/>
            </a:endParaRPr>
          </a:p>
        </p:txBody>
      </p:sp>
      <p:sp>
        <p:nvSpPr>
          <p:cNvPr id="14" name="TextBox 11"/>
          <p:cNvSpPr txBox="1">
            <a:spLocks noChangeArrowheads="1"/>
          </p:cNvSpPr>
          <p:nvPr>
            <p:custDataLst>
              <p:tags r:id="rId3"/>
            </p:custDataLst>
          </p:nvPr>
        </p:nvSpPr>
        <p:spPr bwMode="auto">
          <a:xfrm>
            <a:off x="677781" y="1287884"/>
            <a:ext cx="65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zh-CN" sz="2400" b="1" dirty="0">
                <a:solidFill>
                  <a:schemeClr val="bg1"/>
                </a:solidFill>
                <a:latin typeface="微软雅黑" panose="020B0503020204020204" pitchFamily="34" charset="-122"/>
                <a:ea typeface="微软雅黑" panose="020B0503020204020204" pitchFamily="34" charset="-122"/>
              </a:rPr>
              <a:t>01</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rPr>
              <a:t>违规违纪案例警示</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rotWithShape="1">
          <a:blip r:embed="rId4" cstate="print"/>
          <a:srcRect/>
          <a:stretch>
            <a:fillRect/>
          </a:stretch>
        </p:blipFill>
        <p:spPr>
          <a:xfrm>
            <a:off x="7517820" y="0"/>
            <a:ext cx="1504950" cy="703866"/>
          </a:xfrm>
          <a:prstGeom prst="rect">
            <a:avLst/>
          </a:prstGeom>
        </p:spPr>
      </p:pic>
      <p:sp>
        <p:nvSpPr>
          <p:cNvPr id="66" name="Rectangle 8"/>
          <p:cNvSpPr/>
          <p:nvPr>
            <p:custDataLst>
              <p:tags r:id="rId5"/>
            </p:custDataLst>
          </p:nvPr>
        </p:nvSpPr>
        <p:spPr bwMode="auto">
          <a:xfrm>
            <a:off x="3317241" y="1198310"/>
            <a:ext cx="2491562" cy="3050957"/>
          </a:xfrm>
          <a:prstGeom prst="rect">
            <a:avLst/>
          </a:prstGeom>
          <a:solidFill>
            <a:srgbClr val="D9D9D9">
              <a:alpha val="40000"/>
            </a:srgbClr>
          </a:solidFill>
          <a:ln w="9525">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一名学生私自携带</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电动车电池</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入楼，并在宿舍中厅进行充电，被学生社区工作人员在例行检查时发现。根据学校纪律处分管理相关规定，决定给予其</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严重警告</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处分，并依规取消相关表彰、奖励及其他权益的申请资格。</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7" name="Flowchart: Document 10"/>
          <p:cNvSpPr/>
          <p:nvPr>
            <p:custDataLst>
              <p:tags r:id="rId6"/>
            </p:custDataLst>
          </p:nvPr>
        </p:nvSpPr>
        <p:spPr bwMode="auto">
          <a:xfrm>
            <a:off x="3405189" y="1195834"/>
            <a:ext cx="676327" cy="833642"/>
          </a:xfrm>
          <a:prstGeom prst="flowChartDocument">
            <a:avLst/>
          </a:prstGeom>
          <a:solidFill>
            <a:srgbClr val="3F8EE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微软雅黑" panose="020B0503020204020204" pitchFamily="34" charset="-122"/>
              <a:ea typeface="微软雅黑" panose="020B0503020204020204" pitchFamily="34" charset="-122"/>
            </a:endParaRPr>
          </a:p>
        </p:txBody>
      </p:sp>
      <p:sp>
        <p:nvSpPr>
          <p:cNvPr id="69" name="TextBox 11"/>
          <p:cNvSpPr txBox="1">
            <a:spLocks noChangeArrowheads="1"/>
          </p:cNvSpPr>
          <p:nvPr>
            <p:custDataLst>
              <p:tags r:id="rId7"/>
            </p:custDataLst>
          </p:nvPr>
        </p:nvSpPr>
        <p:spPr bwMode="auto">
          <a:xfrm>
            <a:off x="3410149" y="1287884"/>
            <a:ext cx="65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zh-CN" sz="2400" b="1" dirty="0">
                <a:solidFill>
                  <a:schemeClr val="bg1"/>
                </a:solidFill>
                <a:latin typeface="微软雅黑" panose="020B0503020204020204" pitchFamily="34" charset="-122"/>
                <a:ea typeface="微软雅黑" panose="020B0503020204020204" pitchFamily="34" charset="-122"/>
              </a:rPr>
              <a:t>02</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80" name="Rectangle 8"/>
          <p:cNvSpPr/>
          <p:nvPr>
            <p:custDataLst>
              <p:tags r:id="rId8"/>
            </p:custDataLst>
          </p:nvPr>
        </p:nvSpPr>
        <p:spPr bwMode="auto">
          <a:xfrm>
            <a:off x="6029435" y="1195834"/>
            <a:ext cx="2491562" cy="3053433"/>
          </a:xfrm>
          <a:prstGeom prst="rect">
            <a:avLst/>
          </a:prstGeom>
          <a:solidFill>
            <a:srgbClr val="D9D9D9">
              <a:alpha val="40000"/>
            </a:srgbClr>
          </a:solidFill>
          <a:ln w="9525">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algn="ctr" eaLnBrk="1" fontAlgn="auto" hangingPunct="1">
              <a:lnSpc>
                <a:spcPct val="110000"/>
              </a:lnSpc>
              <a:spcBef>
                <a:spcPts val="0"/>
              </a:spcBef>
              <a:spcAft>
                <a:spcPts val="0"/>
              </a:spcAft>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一名学生在外校与他人</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发生冲突</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，并在朋友圈发表</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不当言论</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，对学校声誉造成了不良影响。根据学校纪律处分管理相关规定，经研究决定，给予其</a:t>
            </a:r>
            <a:r>
              <a:rPr lang="zh-CN" altLang="en-US" sz="1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严重警告</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处分，并依规取消相关表彰、奖励及其他权益的申请资格。</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 name="Flowchart: Document 10"/>
          <p:cNvSpPr/>
          <p:nvPr>
            <p:custDataLst>
              <p:tags r:id="rId9"/>
            </p:custDataLst>
          </p:nvPr>
        </p:nvSpPr>
        <p:spPr bwMode="auto">
          <a:xfrm>
            <a:off x="6117383" y="1193358"/>
            <a:ext cx="676327" cy="833642"/>
          </a:xfrm>
          <a:prstGeom prst="flowChartDocumen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微软雅黑" panose="020B0503020204020204" pitchFamily="34" charset="-122"/>
              <a:ea typeface="微软雅黑" panose="020B0503020204020204" pitchFamily="34" charset="-122"/>
            </a:endParaRPr>
          </a:p>
        </p:txBody>
      </p:sp>
      <p:sp>
        <p:nvSpPr>
          <p:cNvPr id="82" name="TextBox 11"/>
          <p:cNvSpPr txBox="1">
            <a:spLocks noChangeArrowheads="1"/>
          </p:cNvSpPr>
          <p:nvPr>
            <p:custDataLst>
              <p:tags r:id="rId10"/>
            </p:custDataLst>
          </p:nvPr>
        </p:nvSpPr>
        <p:spPr bwMode="auto">
          <a:xfrm>
            <a:off x="6122343" y="1285408"/>
            <a:ext cx="659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zh-CN" sz="2400" b="1" dirty="0">
                <a:solidFill>
                  <a:schemeClr val="bg1"/>
                </a:solidFill>
                <a:latin typeface="微软雅黑" panose="020B0503020204020204" pitchFamily="34" charset="-122"/>
                <a:ea typeface="微软雅黑" panose="020B0503020204020204" pitchFamily="34" charset="-122"/>
              </a:rPr>
              <a:t>03</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3" name="圆角矩形 2"/>
          <p:cNvSpPr/>
          <p:nvPr userDrawn="1">
            <p:custDataLst>
              <p:tags r:id="rId11"/>
            </p:custDataLst>
          </p:nvPr>
        </p:nvSpPr>
        <p:spPr>
          <a:xfrm>
            <a:off x="276860" y="929640"/>
            <a:ext cx="8657590" cy="3633470"/>
          </a:xfrm>
          <a:prstGeom prst="roundRect">
            <a:avLst/>
          </a:prstGeom>
          <a:noFill/>
          <a:ln w="57150" cap="flat" cmpd="dbl" algn="ctr">
            <a:solidFill>
              <a:srgbClr val="7030A0">
                <a:alpha val="100000"/>
              </a:srgbClr>
            </a:solidFill>
            <a:prstDash val="sysDot"/>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sym typeface="+mn-ea"/>
              </a:rPr>
              <a:t>在校</a:t>
            </a:r>
            <a:r>
              <a:rPr lang="zh-CN" altLang="en-US" sz="2400" b="1" dirty="0">
                <a:solidFill>
                  <a:srgbClr val="7030A0"/>
                </a:solidFill>
                <a:latin typeface="微软雅黑" panose="020B0503020204020204" pitchFamily="34" charset="-122"/>
                <a:ea typeface="微软雅黑" panose="020B0503020204020204" pitchFamily="34" charset="-122"/>
                <a:sym typeface="+mn-ea"/>
              </a:rPr>
              <a:t>纪律</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rotWithShape="1">
          <a:blip r:embed="rId1" cstate="print"/>
          <a:srcRect/>
          <a:stretch>
            <a:fillRect/>
          </a:stretch>
        </p:blipFill>
        <p:spPr>
          <a:xfrm>
            <a:off x="7517820" y="0"/>
            <a:ext cx="1504950" cy="703866"/>
          </a:xfrm>
          <a:prstGeom prst="rect">
            <a:avLst/>
          </a:prstGeom>
        </p:spPr>
      </p:pic>
      <p:sp>
        <p:nvSpPr>
          <p:cNvPr id="3" name="文本框 2"/>
          <p:cNvSpPr txBox="1"/>
          <p:nvPr/>
        </p:nvSpPr>
        <p:spPr>
          <a:xfrm>
            <a:off x="613410" y="1179830"/>
            <a:ext cx="5763895" cy="3450590"/>
          </a:xfrm>
          <a:prstGeom prst="rect">
            <a:avLst/>
          </a:prstGeom>
          <a:noFill/>
        </p:spPr>
        <p:txBody>
          <a:bodyPr wrap="square" rtlCol="0" anchor="t">
            <a:spAutoFit/>
          </a:bodyPr>
          <a:p>
            <a:pPr>
              <a:lnSpc>
                <a:spcPct val="120000"/>
              </a:lnSpc>
            </a:pPr>
            <a:r>
              <a:rPr lang="zh-CN" altLang="en-US"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请大家一定注意遵守相关纪律</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1">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90204" pitchFamily="34" charset="0"/>
              <a:buChar char="•"/>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学校严禁为他人代为报备或转借、转租入校证件；严禁为他人提供任何形式的有偿报备进校活动；严禁任何单位或个人违规带人进校。学校将持续严查、严处违规报备行为，同学们要提高纪律意识，切勿因小失大。</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90204" pitchFamily="34" charset="0"/>
              <a:buChar char="•"/>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学生公寓是人群密集场所，安全是必须牢牢守住的底线。根据学校规定，学生公寓严禁携带电动车电池进入，禁止停放电动车或为电动车充电以及存放电动车电池。</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90204" pitchFamily="34" charset="0"/>
              <a:buChar char="•"/>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无论线上线下、校内校外，都应当严于律己、规范自身言行。学校始终坚持惩前毖后、治病救人的原则，依据事实，对违反校规校纪的行为严肃处理。</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90204" pitchFamily="34" charset="0"/>
              <a:buChar char="•"/>
            </a:pP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圆角矩形 4"/>
          <p:cNvSpPr/>
          <p:nvPr userDrawn="1"/>
        </p:nvSpPr>
        <p:spPr>
          <a:xfrm>
            <a:off x="276860" y="929640"/>
            <a:ext cx="8657590" cy="3633470"/>
          </a:xfrm>
          <a:prstGeom prst="roundRect">
            <a:avLst/>
          </a:prstGeom>
          <a:noFill/>
          <a:ln w="57150" cap="flat" cmpd="dbl" algn="ctr">
            <a:solidFill>
              <a:srgbClr val="7030A0">
                <a:alpha val="100000"/>
              </a:srgbClr>
            </a:solidFill>
            <a:prstDash val="sysDot"/>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pic>
        <p:nvPicPr>
          <p:cNvPr id="2" name="图片 1"/>
          <p:cNvPicPr/>
          <p:nvPr/>
        </p:nvPicPr>
        <p:blipFill>
          <a:blip r:embed="rId2"/>
          <a:stretch>
            <a:fillRect/>
          </a:stretch>
        </p:blipFill>
        <p:spPr>
          <a:xfrm>
            <a:off x="6377305" y="1145540"/>
            <a:ext cx="2310130" cy="32010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rPr>
              <a:t>党章对研究生的指导作用</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rotWithShape="1">
          <a:blip r:embed="rId1" cstate="print"/>
          <a:srcRect/>
          <a:stretch>
            <a:fillRect/>
          </a:stretch>
        </p:blipFill>
        <p:spPr>
          <a:xfrm>
            <a:off x="7517820" y="0"/>
            <a:ext cx="1504950" cy="703866"/>
          </a:xfrm>
          <a:prstGeom prst="rect">
            <a:avLst/>
          </a:prstGeom>
        </p:spPr>
      </p:pic>
      <p:grpSp>
        <p:nvGrpSpPr>
          <p:cNvPr id="54" name="图形 1"/>
          <p:cNvGrpSpPr/>
          <p:nvPr>
            <p:custDataLst>
              <p:tags r:id="rId2"/>
            </p:custDataLst>
          </p:nvPr>
        </p:nvGrpSpPr>
        <p:grpSpPr>
          <a:xfrm>
            <a:off x="322117" y="715156"/>
            <a:ext cx="8538583" cy="4398869"/>
            <a:chOff x="967935" y="967404"/>
            <a:chExt cx="10508291" cy="7167549"/>
          </a:xfrm>
        </p:grpSpPr>
        <p:grpSp>
          <p:nvGrpSpPr>
            <p:cNvPr id="58" name="图形 1"/>
            <p:cNvGrpSpPr/>
            <p:nvPr/>
          </p:nvGrpSpPr>
          <p:grpSpPr>
            <a:xfrm>
              <a:off x="967935" y="967949"/>
              <a:ext cx="333844" cy="7167004"/>
              <a:chOff x="967935" y="967949"/>
              <a:chExt cx="333844" cy="7167004"/>
            </a:xfrm>
          </p:grpSpPr>
          <p:sp>
            <p:nvSpPr>
              <p:cNvPr id="71" name="任意多边形: 形状 59"/>
              <p:cNvSpPr/>
              <p:nvPr>
                <p:custDataLst>
                  <p:tags r:id="rId3"/>
                </p:custDataLst>
              </p:nvPr>
            </p:nvSpPr>
            <p:spPr>
              <a:xfrm>
                <a:off x="967935" y="997151"/>
                <a:ext cx="228087" cy="7105444"/>
              </a:xfrm>
              <a:custGeom>
                <a:avLst/>
                <a:gdLst>
                  <a:gd name="connsiteX0" fmla="*/ 0 w 228087"/>
                  <a:gd name="connsiteY0" fmla="*/ 0 h 7105444"/>
                  <a:gd name="connsiteX1" fmla="*/ 228088 w 228087"/>
                  <a:gd name="connsiteY1" fmla="*/ 0 h 7105444"/>
                  <a:gd name="connsiteX2" fmla="*/ 228088 w 228087"/>
                  <a:gd name="connsiteY2" fmla="*/ 7105445 h 7105444"/>
                  <a:gd name="connsiteX3" fmla="*/ 0 w 228087"/>
                  <a:gd name="connsiteY3" fmla="*/ 7105445 h 7105444"/>
                </a:gdLst>
                <a:ahLst/>
                <a:cxnLst>
                  <a:cxn ang="0">
                    <a:pos x="connsiteX0" y="connsiteY0"/>
                  </a:cxn>
                  <a:cxn ang="0">
                    <a:pos x="connsiteX1" y="connsiteY1"/>
                  </a:cxn>
                  <a:cxn ang="0">
                    <a:pos x="connsiteX2" y="connsiteY2"/>
                  </a:cxn>
                  <a:cxn ang="0">
                    <a:pos x="connsiteX3" y="connsiteY3"/>
                  </a:cxn>
                </a:cxnLst>
                <a:rect l="l" t="t" r="r" b="b"/>
                <a:pathLst>
                  <a:path w="228087" h="7105444">
                    <a:moveTo>
                      <a:pt x="0" y="0"/>
                    </a:moveTo>
                    <a:lnTo>
                      <a:pt x="228088" y="0"/>
                    </a:lnTo>
                    <a:lnTo>
                      <a:pt x="228088" y="7105445"/>
                    </a:lnTo>
                    <a:lnTo>
                      <a:pt x="0" y="710544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2" name="任意多边形: 形状 60"/>
              <p:cNvSpPr/>
              <p:nvPr>
                <p:custDataLst>
                  <p:tags r:id="rId4"/>
                </p:custDataLst>
              </p:nvPr>
            </p:nvSpPr>
            <p:spPr>
              <a:xfrm>
                <a:off x="988455" y="993994"/>
                <a:ext cx="228087" cy="7114126"/>
              </a:xfrm>
              <a:custGeom>
                <a:avLst/>
                <a:gdLst>
                  <a:gd name="connsiteX0" fmla="*/ 0 w 228087"/>
                  <a:gd name="connsiteY0" fmla="*/ 0 h 7114126"/>
                  <a:gd name="connsiteX1" fmla="*/ 228088 w 228087"/>
                  <a:gd name="connsiteY1" fmla="*/ 0 h 7114126"/>
                  <a:gd name="connsiteX2" fmla="*/ 228088 w 228087"/>
                  <a:gd name="connsiteY2" fmla="*/ 7114126 h 7114126"/>
                  <a:gd name="connsiteX3" fmla="*/ 0 w 228087"/>
                  <a:gd name="connsiteY3" fmla="*/ 7114126 h 7114126"/>
                </a:gdLst>
                <a:ahLst/>
                <a:cxnLst>
                  <a:cxn ang="0">
                    <a:pos x="connsiteX0" y="connsiteY0"/>
                  </a:cxn>
                  <a:cxn ang="0">
                    <a:pos x="connsiteX1" y="connsiteY1"/>
                  </a:cxn>
                  <a:cxn ang="0">
                    <a:pos x="connsiteX2" y="connsiteY2"/>
                  </a:cxn>
                  <a:cxn ang="0">
                    <a:pos x="connsiteX3" y="connsiteY3"/>
                  </a:cxn>
                </a:cxnLst>
                <a:rect l="l" t="t" r="r" b="b"/>
                <a:pathLst>
                  <a:path w="228087" h="7114126">
                    <a:moveTo>
                      <a:pt x="0" y="0"/>
                    </a:moveTo>
                    <a:lnTo>
                      <a:pt x="228088" y="0"/>
                    </a:lnTo>
                    <a:lnTo>
                      <a:pt x="228088" y="7114126"/>
                    </a:lnTo>
                    <a:lnTo>
                      <a:pt x="0" y="7114126"/>
                    </a:lnTo>
                    <a:close/>
                  </a:path>
                </a:pathLst>
              </a:custGeom>
              <a:solidFill>
                <a:srgbClr val="C7ABD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3" name="任意多边形: 形状 61"/>
              <p:cNvSpPr/>
              <p:nvPr>
                <p:custDataLst>
                  <p:tags r:id="rId5"/>
                </p:custDataLst>
              </p:nvPr>
            </p:nvSpPr>
            <p:spPr>
              <a:xfrm>
                <a:off x="1014499" y="984523"/>
                <a:ext cx="228876" cy="7133067"/>
              </a:xfrm>
              <a:custGeom>
                <a:avLst/>
                <a:gdLst>
                  <a:gd name="connsiteX0" fmla="*/ 0 w 228876"/>
                  <a:gd name="connsiteY0" fmla="*/ 0 h 7133067"/>
                  <a:gd name="connsiteX1" fmla="*/ 228877 w 228876"/>
                  <a:gd name="connsiteY1" fmla="*/ 0 h 7133067"/>
                  <a:gd name="connsiteX2" fmla="*/ 228877 w 228876"/>
                  <a:gd name="connsiteY2" fmla="*/ 7133068 h 7133067"/>
                  <a:gd name="connsiteX3" fmla="*/ 0 w 228876"/>
                  <a:gd name="connsiteY3" fmla="*/ 7133068 h 7133067"/>
                </a:gdLst>
                <a:ahLst/>
                <a:cxnLst>
                  <a:cxn ang="0">
                    <a:pos x="connsiteX0" y="connsiteY0"/>
                  </a:cxn>
                  <a:cxn ang="0">
                    <a:pos x="connsiteX1" y="connsiteY1"/>
                  </a:cxn>
                  <a:cxn ang="0">
                    <a:pos x="connsiteX2" y="connsiteY2"/>
                  </a:cxn>
                  <a:cxn ang="0">
                    <a:pos x="connsiteX3" y="connsiteY3"/>
                  </a:cxn>
                </a:cxnLst>
                <a:rect l="l" t="t" r="r" b="b"/>
                <a:pathLst>
                  <a:path w="228871" h="7133067">
                    <a:moveTo>
                      <a:pt x="0" y="0"/>
                    </a:moveTo>
                    <a:lnTo>
                      <a:pt x="228877" y="0"/>
                    </a:lnTo>
                    <a:lnTo>
                      <a:pt x="228877" y="7133068"/>
                    </a:lnTo>
                    <a:lnTo>
                      <a:pt x="0" y="7133068"/>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4" name="任意多边形: 形状 62"/>
              <p:cNvSpPr/>
              <p:nvPr>
                <p:custDataLst>
                  <p:tags r:id="rId6"/>
                </p:custDataLst>
              </p:nvPr>
            </p:nvSpPr>
            <p:spPr>
              <a:xfrm>
                <a:off x="1031073" y="975052"/>
                <a:ext cx="228876" cy="7151220"/>
              </a:xfrm>
              <a:custGeom>
                <a:avLst/>
                <a:gdLst>
                  <a:gd name="connsiteX0" fmla="*/ 0 w 228876"/>
                  <a:gd name="connsiteY0" fmla="*/ 0 h 7151220"/>
                  <a:gd name="connsiteX1" fmla="*/ 228877 w 228876"/>
                  <a:gd name="connsiteY1" fmla="*/ 0 h 7151220"/>
                  <a:gd name="connsiteX2" fmla="*/ 228877 w 228876"/>
                  <a:gd name="connsiteY2" fmla="*/ 7151221 h 7151220"/>
                  <a:gd name="connsiteX3" fmla="*/ 0 w 228876"/>
                  <a:gd name="connsiteY3" fmla="*/ 7151221 h 7151220"/>
                </a:gdLst>
                <a:ahLst/>
                <a:cxnLst>
                  <a:cxn ang="0">
                    <a:pos x="connsiteX0" y="connsiteY0"/>
                  </a:cxn>
                  <a:cxn ang="0">
                    <a:pos x="connsiteX1" y="connsiteY1"/>
                  </a:cxn>
                  <a:cxn ang="0">
                    <a:pos x="connsiteX2" y="connsiteY2"/>
                  </a:cxn>
                  <a:cxn ang="0">
                    <a:pos x="connsiteX3" y="connsiteY3"/>
                  </a:cxn>
                </a:cxnLst>
                <a:rect l="l" t="t" r="r" b="b"/>
                <a:pathLst>
                  <a:path w="228871" h="7151220">
                    <a:moveTo>
                      <a:pt x="0" y="0"/>
                    </a:moveTo>
                    <a:lnTo>
                      <a:pt x="228877" y="0"/>
                    </a:lnTo>
                    <a:lnTo>
                      <a:pt x="228877" y="7151221"/>
                    </a:lnTo>
                    <a:lnTo>
                      <a:pt x="0" y="7151221"/>
                    </a:lnTo>
                    <a:close/>
                  </a:path>
                </a:pathLst>
              </a:custGeom>
              <a:solidFill>
                <a:srgbClr val="E3E3E3"/>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5" name="任意多边形: 形状 63"/>
              <p:cNvSpPr/>
              <p:nvPr>
                <p:custDataLst>
                  <p:tags r:id="rId7"/>
                </p:custDataLst>
              </p:nvPr>
            </p:nvSpPr>
            <p:spPr>
              <a:xfrm>
                <a:off x="1072113" y="967949"/>
                <a:ext cx="229666" cy="7167004"/>
              </a:xfrm>
              <a:custGeom>
                <a:avLst/>
                <a:gdLst>
                  <a:gd name="connsiteX0" fmla="*/ 0 w 229666"/>
                  <a:gd name="connsiteY0" fmla="*/ 0 h 7167004"/>
                  <a:gd name="connsiteX1" fmla="*/ 229666 w 229666"/>
                  <a:gd name="connsiteY1" fmla="*/ 0 h 7167004"/>
                  <a:gd name="connsiteX2" fmla="*/ 229666 w 229666"/>
                  <a:gd name="connsiteY2" fmla="*/ 7167005 h 7167004"/>
                  <a:gd name="connsiteX3" fmla="*/ 0 w 229666"/>
                  <a:gd name="connsiteY3" fmla="*/ 7167005 h 7167004"/>
                </a:gdLst>
                <a:ahLst/>
                <a:cxnLst>
                  <a:cxn ang="0">
                    <a:pos x="connsiteX0" y="connsiteY0"/>
                  </a:cxn>
                  <a:cxn ang="0">
                    <a:pos x="connsiteX1" y="connsiteY1"/>
                  </a:cxn>
                  <a:cxn ang="0">
                    <a:pos x="connsiteX2" y="connsiteY2"/>
                  </a:cxn>
                  <a:cxn ang="0">
                    <a:pos x="connsiteX3" y="connsiteY3"/>
                  </a:cxn>
                </a:cxnLst>
                <a:rect l="l" t="t" r="r" b="b"/>
                <a:pathLst>
                  <a:path w="229666" h="7167004">
                    <a:moveTo>
                      <a:pt x="0" y="0"/>
                    </a:moveTo>
                    <a:lnTo>
                      <a:pt x="229666" y="0"/>
                    </a:lnTo>
                    <a:lnTo>
                      <a:pt x="229666" y="7167005"/>
                    </a:lnTo>
                    <a:lnTo>
                      <a:pt x="0" y="716700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59" name="图形 1"/>
            <p:cNvGrpSpPr/>
            <p:nvPr/>
          </p:nvGrpSpPr>
          <p:grpSpPr>
            <a:xfrm>
              <a:off x="11141988" y="967404"/>
              <a:ext cx="334238" cy="7167004"/>
              <a:chOff x="11141988" y="967404"/>
              <a:chExt cx="334238" cy="7167004"/>
            </a:xfrm>
          </p:grpSpPr>
          <p:sp>
            <p:nvSpPr>
              <p:cNvPr id="61" name="任意多边形: 形状 53"/>
              <p:cNvSpPr/>
              <p:nvPr>
                <p:custDataLst>
                  <p:tags r:id="rId8"/>
                </p:custDataLst>
              </p:nvPr>
            </p:nvSpPr>
            <p:spPr>
              <a:xfrm rot="-10800000">
                <a:off x="11248139" y="997356"/>
                <a:ext cx="228087" cy="7105444"/>
              </a:xfrm>
              <a:custGeom>
                <a:avLst/>
                <a:gdLst>
                  <a:gd name="connsiteX0" fmla="*/ 0 w 228087"/>
                  <a:gd name="connsiteY0" fmla="*/ 0 h 7105444"/>
                  <a:gd name="connsiteX1" fmla="*/ 228088 w 228087"/>
                  <a:gd name="connsiteY1" fmla="*/ 0 h 7105444"/>
                  <a:gd name="connsiteX2" fmla="*/ 228088 w 228087"/>
                  <a:gd name="connsiteY2" fmla="*/ 7105445 h 7105444"/>
                  <a:gd name="connsiteX3" fmla="*/ 0 w 228087"/>
                  <a:gd name="connsiteY3" fmla="*/ 7105445 h 7105444"/>
                </a:gdLst>
                <a:ahLst/>
                <a:cxnLst>
                  <a:cxn ang="0">
                    <a:pos x="connsiteX0" y="connsiteY0"/>
                  </a:cxn>
                  <a:cxn ang="0">
                    <a:pos x="connsiteX1" y="connsiteY1"/>
                  </a:cxn>
                  <a:cxn ang="0">
                    <a:pos x="connsiteX2" y="connsiteY2"/>
                  </a:cxn>
                  <a:cxn ang="0">
                    <a:pos x="connsiteX3" y="connsiteY3"/>
                  </a:cxn>
                </a:cxnLst>
                <a:rect l="l" t="t" r="r" b="b"/>
                <a:pathLst>
                  <a:path w="228087" h="7105444">
                    <a:moveTo>
                      <a:pt x="0" y="0"/>
                    </a:moveTo>
                    <a:lnTo>
                      <a:pt x="228088" y="0"/>
                    </a:lnTo>
                    <a:lnTo>
                      <a:pt x="228088" y="7105445"/>
                    </a:lnTo>
                    <a:lnTo>
                      <a:pt x="0" y="710544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2" name="任意多边形: 形状 54"/>
              <p:cNvSpPr/>
              <p:nvPr>
                <p:custDataLst>
                  <p:tags r:id="rId9"/>
                </p:custDataLst>
              </p:nvPr>
            </p:nvSpPr>
            <p:spPr>
              <a:xfrm rot="-10800000">
                <a:off x="11227777" y="993915"/>
                <a:ext cx="228087" cy="7114126"/>
              </a:xfrm>
              <a:custGeom>
                <a:avLst/>
                <a:gdLst>
                  <a:gd name="connsiteX0" fmla="*/ 0 w 228087"/>
                  <a:gd name="connsiteY0" fmla="*/ 0 h 7114126"/>
                  <a:gd name="connsiteX1" fmla="*/ 228088 w 228087"/>
                  <a:gd name="connsiteY1" fmla="*/ 0 h 7114126"/>
                  <a:gd name="connsiteX2" fmla="*/ 228088 w 228087"/>
                  <a:gd name="connsiteY2" fmla="*/ 7114126 h 7114126"/>
                  <a:gd name="connsiteX3" fmla="*/ 0 w 228087"/>
                  <a:gd name="connsiteY3" fmla="*/ 7114126 h 7114126"/>
                </a:gdLst>
                <a:ahLst/>
                <a:cxnLst>
                  <a:cxn ang="0">
                    <a:pos x="connsiteX0" y="connsiteY0"/>
                  </a:cxn>
                  <a:cxn ang="0">
                    <a:pos x="connsiteX1" y="connsiteY1"/>
                  </a:cxn>
                  <a:cxn ang="0">
                    <a:pos x="connsiteX2" y="connsiteY2"/>
                  </a:cxn>
                  <a:cxn ang="0">
                    <a:pos x="connsiteX3" y="connsiteY3"/>
                  </a:cxn>
                </a:cxnLst>
                <a:rect l="l" t="t" r="r" b="b"/>
                <a:pathLst>
                  <a:path w="228087" h="7114126">
                    <a:moveTo>
                      <a:pt x="0" y="0"/>
                    </a:moveTo>
                    <a:lnTo>
                      <a:pt x="228088" y="0"/>
                    </a:lnTo>
                    <a:lnTo>
                      <a:pt x="228088" y="7114126"/>
                    </a:lnTo>
                    <a:lnTo>
                      <a:pt x="0" y="7114126"/>
                    </a:lnTo>
                    <a:close/>
                  </a:path>
                </a:pathLst>
              </a:custGeom>
              <a:solidFill>
                <a:srgbClr val="D9D9D9"/>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3" name="任意多边形: 形状 55"/>
              <p:cNvSpPr/>
              <p:nvPr>
                <p:custDataLst>
                  <p:tags r:id="rId10"/>
                </p:custDataLst>
              </p:nvPr>
            </p:nvSpPr>
            <p:spPr>
              <a:xfrm rot="-10800000">
                <a:off x="11200706" y="984768"/>
                <a:ext cx="228876" cy="7133067"/>
              </a:xfrm>
              <a:custGeom>
                <a:avLst/>
                <a:gdLst>
                  <a:gd name="connsiteX0" fmla="*/ 0 w 228876"/>
                  <a:gd name="connsiteY0" fmla="*/ 0 h 7133067"/>
                  <a:gd name="connsiteX1" fmla="*/ 228877 w 228876"/>
                  <a:gd name="connsiteY1" fmla="*/ 0 h 7133067"/>
                  <a:gd name="connsiteX2" fmla="*/ 228877 w 228876"/>
                  <a:gd name="connsiteY2" fmla="*/ 7133068 h 7133067"/>
                  <a:gd name="connsiteX3" fmla="*/ 0 w 228876"/>
                  <a:gd name="connsiteY3" fmla="*/ 7133068 h 7133067"/>
                </a:gdLst>
                <a:ahLst/>
                <a:cxnLst>
                  <a:cxn ang="0">
                    <a:pos x="connsiteX0" y="connsiteY0"/>
                  </a:cxn>
                  <a:cxn ang="0">
                    <a:pos x="connsiteX1" y="connsiteY1"/>
                  </a:cxn>
                  <a:cxn ang="0">
                    <a:pos x="connsiteX2" y="connsiteY2"/>
                  </a:cxn>
                  <a:cxn ang="0">
                    <a:pos x="connsiteX3" y="connsiteY3"/>
                  </a:cxn>
                </a:cxnLst>
                <a:rect l="l" t="t" r="r" b="b"/>
                <a:pathLst>
                  <a:path w="228871" h="7133067">
                    <a:moveTo>
                      <a:pt x="0" y="0"/>
                    </a:moveTo>
                    <a:lnTo>
                      <a:pt x="228877" y="0"/>
                    </a:lnTo>
                    <a:lnTo>
                      <a:pt x="228877" y="7133068"/>
                    </a:lnTo>
                    <a:lnTo>
                      <a:pt x="0" y="7133068"/>
                    </a:lnTo>
                    <a:close/>
                  </a:path>
                </a:pathLst>
              </a:custGeom>
              <a:solidFill>
                <a:srgbClr val="C7ABD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5" name="任意多边形: 形状 56"/>
              <p:cNvSpPr/>
              <p:nvPr>
                <p:custDataLst>
                  <p:tags r:id="rId11"/>
                </p:custDataLst>
              </p:nvPr>
            </p:nvSpPr>
            <p:spPr>
              <a:xfrm rot="10800000">
                <a:off x="11184606" y="974208"/>
                <a:ext cx="228876" cy="7151220"/>
              </a:xfrm>
              <a:custGeom>
                <a:avLst/>
                <a:gdLst>
                  <a:gd name="connsiteX0" fmla="*/ 0 w 228876"/>
                  <a:gd name="connsiteY0" fmla="*/ 0 h 7151220"/>
                  <a:gd name="connsiteX1" fmla="*/ 228877 w 228876"/>
                  <a:gd name="connsiteY1" fmla="*/ 0 h 7151220"/>
                  <a:gd name="connsiteX2" fmla="*/ 228877 w 228876"/>
                  <a:gd name="connsiteY2" fmla="*/ 7151220 h 7151220"/>
                  <a:gd name="connsiteX3" fmla="*/ 0 w 228876"/>
                  <a:gd name="connsiteY3" fmla="*/ 7151220 h 7151220"/>
                </a:gdLst>
                <a:ahLst/>
                <a:cxnLst>
                  <a:cxn ang="0">
                    <a:pos x="connsiteX0" y="connsiteY0"/>
                  </a:cxn>
                  <a:cxn ang="0">
                    <a:pos x="connsiteX1" y="connsiteY1"/>
                  </a:cxn>
                  <a:cxn ang="0">
                    <a:pos x="connsiteX2" y="connsiteY2"/>
                  </a:cxn>
                  <a:cxn ang="0">
                    <a:pos x="connsiteX3" y="connsiteY3"/>
                  </a:cxn>
                </a:cxnLst>
                <a:rect l="l" t="t" r="r" b="b"/>
                <a:pathLst>
                  <a:path w="228871" h="7151220">
                    <a:moveTo>
                      <a:pt x="0" y="0"/>
                    </a:moveTo>
                    <a:lnTo>
                      <a:pt x="228877" y="0"/>
                    </a:lnTo>
                    <a:lnTo>
                      <a:pt x="228877" y="7151220"/>
                    </a:lnTo>
                    <a:lnTo>
                      <a:pt x="0" y="7151220"/>
                    </a:lnTo>
                    <a:close/>
                  </a:path>
                </a:pathLst>
              </a:custGeom>
              <a:solidFill>
                <a:srgbClr val="E3E3E3"/>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8" name="任意多边形: 形状 57"/>
              <p:cNvSpPr/>
              <p:nvPr>
                <p:custDataLst>
                  <p:tags r:id="rId12"/>
                </p:custDataLst>
              </p:nvPr>
            </p:nvSpPr>
            <p:spPr>
              <a:xfrm rot="-10800000">
                <a:off x="11141988" y="967404"/>
                <a:ext cx="229666" cy="7167004"/>
              </a:xfrm>
              <a:custGeom>
                <a:avLst/>
                <a:gdLst>
                  <a:gd name="connsiteX0" fmla="*/ 0 w 229666"/>
                  <a:gd name="connsiteY0" fmla="*/ 0 h 7167004"/>
                  <a:gd name="connsiteX1" fmla="*/ 229666 w 229666"/>
                  <a:gd name="connsiteY1" fmla="*/ 0 h 7167004"/>
                  <a:gd name="connsiteX2" fmla="*/ 229666 w 229666"/>
                  <a:gd name="connsiteY2" fmla="*/ 7167005 h 7167004"/>
                  <a:gd name="connsiteX3" fmla="*/ 0 w 229666"/>
                  <a:gd name="connsiteY3" fmla="*/ 7167005 h 7167004"/>
                </a:gdLst>
                <a:ahLst/>
                <a:cxnLst>
                  <a:cxn ang="0">
                    <a:pos x="connsiteX0" y="connsiteY0"/>
                  </a:cxn>
                  <a:cxn ang="0">
                    <a:pos x="connsiteX1" y="connsiteY1"/>
                  </a:cxn>
                  <a:cxn ang="0">
                    <a:pos x="connsiteX2" y="connsiteY2"/>
                  </a:cxn>
                  <a:cxn ang="0">
                    <a:pos x="connsiteX3" y="connsiteY3"/>
                  </a:cxn>
                </a:cxnLst>
                <a:rect l="l" t="t" r="r" b="b"/>
                <a:pathLst>
                  <a:path w="229666" h="7167004">
                    <a:moveTo>
                      <a:pt x="0" y="0"/>
                    </a:moveTo>
                    <a:lnTo>
                      <a:pt x="229666" y="0"/>
                    </a:lnTo>
                    <a:lnTo>
                      <a:pt x="229666" y="7167005"/>
                    </a:lnTo>
                    <a:lnTo>
                      <a:pt x="0" y="716700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sp>
        <p:nvSpPr>
          <p:cNvPr id="55" name="任意多边形: 形状 47"/>
          <p:cNvSpPr/>
          <p:nvPr>
            <p:custDataLst>
              <p:tags r:id="rId13"/>
            </p:custDataLst>
          </p:nvPr>
        </p:nvSpPr>
        <p:spPr>
          <a:xfrm>
            <a:off x="439474" y="703866"/>
            <a:ext cx="4139557" cy="4435778"/>
          </a:xfrm>
          <a:custGeom>
            <a:avLst/>
            <a:gdLst>
              <a:gd name="connsiteX0" fmla="*/ 0 w 5094484"/>
              <a:gd name="connsiteY0" fmla="*/ 7204888 h 7227688"/>
              <a:gd name="connsiteX1" fmla="*/ 5094485 w 5094484"/>
              <a:gd name="connsiteY1" fmla="*/ 7204888 h 7227688"/>
              <a:gd name="connsiteX2" fmla="*/ 5094485 w 5094484"/>
              <a:gd name="connsiteY2" fmla="*/ 0 h 7227688"/>
              <a:gd name="connsiteX3" fmla="*/ 0 w 5094484"/>
              <a:gd name="connsiteY3" fmla="*/ 0 h 7227688"/>
              <a:gd name="connsiteX4" fmla="*/ 0 w 5094484"/>
              <a:gd name="connsiteY4" fmla="*/ 7204888 h 722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4484" h="7227688">
                <a:moveTo>
                  <a:pt x="0" y="7204888"/>
                </a:moveTo>
                <a:cubicBezTo>
                  <a:pt x="0" y="7204888"/>
                  <a:pt x="5094485" y="7256188"/>
                  <a:pt x="5094485" y="7204888"/>
                </a:cubicBezTo>
                <a:cubicBezTo>
                  <a:pt x="5094485" y="7153588"/>
                  <a:pt x="5094485" y="0"/>
                  <a:pt x="5094485" y="0"/>
                </a:cubicBezTo>
                <a:lnTo>
                  <a:pt x="0" y="0"/>
                </a:lnTo>
                <a:lnTo>
                  <a:pt x="0" y="7204888"/>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6" name="任意多边形: 形状 48"/>
          <p:cNvSpPr/>
          <p:nvPr>
            <p:custDataLst>
              <p:tags r:id="rId14"/>
            </p:custDataLst>
          </p:nvPr>
        </p:nvSpPr>
        <p:spPr>
          <a:xfrm>
            <a:off x="4579031" y="703866"/>
            <a:ext cx="4139557" cy="4435778"/>
          </a:xfrm>
          <a:custGeom>
            <a:avLst/>
            <a:gdLst>
              <a:gd name="connsiteX0" fmla="*/ 5094485 w 5094484"/>
              <a:gd name="connsiteY0" fmla="*/ 7204888 h 7227688"/>
              <a:gd name="connsiteX1" fmla="*/ 0 w 5094484"/>
              <a:gd name="connsiteY1" fmla="*/ 7204888 h 7227688"/>
              <a:gd name="connsiteX2" fmla="*/ 0 w 5094484"/>
              <a:gd name="connsiteY2" fmla="*/ 0 h 7227688"/>
              <a:gd name="connsiteX3" fmla="*/ 5094485 w 5094484"/>
              <a:gd name="connsiteY3" fmla="*/ 0 h 7227688"/>
              <a:gd name="connsiteX4" fmla="*/ 5094485 w 5094484"/>
              <a:gd name="connsiteY4" fmla="*/ 7204888 h 722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4484" h="7227688">
                <a:moveTo>
                  <a:pt x="5094485" y="7204888"/>
                </a:moveTo>
                <a:cubicBezTo>
                  <a:pt x="5094485" y="7204888"/>
                  <a:pt x="0" y="7256188"/>
                  <a:pt x="0" y="7204888"/>
                </a:cubicBezTo>
                <a:cubicBezTo>
                  <a:pt x="0" y="7153588"/>
                  <a:pt x="0" y="0"/>
                  <a:pt x="0" y="0"/>
                </a:cubicBezTo>
                <a:lnTo>
                  <a:pt x="5094485" y="0"/>
                </a:lnTo>
                <a:lnTo>
                  <a:pt x="5094485" y="7204888"/>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7" name="任意多边形: 形状 49"/>
          <p:cNvSpPr/>
          <p:nvPr>
            <p:custDataLst>
              <p:tags r:id="rId15"/>
            </p:custDataLst>
          </p:nvPr>
        </p:nvSpPr>
        <p:spPr>
          <a:xfrm>
            <a:off x="4436492" y="703866"/>
            <a:ext cx="263571" cy="4432441"/>
          </a:xfrm>
          <a:custGeom>
            <a:avLst/>
            <a:gdLst>
              <a:gd name="connsiteX0" fmla="*/ 0 w 324373"/>
              <a:gd name="connsiteY0" fmla="*/ 0 h 7222250"/>
              <a:gd name="connsiteX1" fmla="*/ 0 w 324373"/>
              <a:gd name="connsiteY1" fmla="*/ 7222251 h 7222250"/>
              <a:gd name="connsiteX2" fmla="*/ 324374 w 324373"/>
              <a:gd name="connsiteY2" fmla="*/ 7204888 h 7222250"/>
              <a:gd name="connsiteX3" fmla="*/ 324374 w 324373"/>
              <a:gd name="connsiteY3" fmla="*/ 0 h 7222250"/>
              <a:gd name="connsiteX4" fmla="*/ 0 w 324373"/>
              <a:gd name="connsiteY4" fmla="*/ 0 h 7222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373" h="7222249">
                <a:moveTo>
                  <a:pt x="0" y="0"/>
                </a:moveTo>
                <a:lnTo>
                  <a:pt x="0" y="7222251"/>
                </a:lnTo>
                <a:cubicBezTo>
                  <a:pt x="203621" y="7218305"/>
                  <a:pt x="324374" y="7212781"/>
                  <a:pt x="324374" y="7204888"/>
                </a:cubicBezTo>
                <a:cubicBezTo>
                  <a:pt x="324374" y="7153588"/>
                  <a:pt x="324374" y="0"/>
                  <a:pt x="324374" y="0"/>
                </a:cubicBezTo>
                <a:lnTo>
                  <a:pt x="0" y="0"/>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76" name="组合 75"/>
          <p:cNvGrpSpPr/>
          <p:nvPr>
            <p:custDataLst>
              <p:tags r:id="rId16"/>
            </p:custDataLst>
          </p:nvPr>
        </p:nvGrpSpPr>
        <p:grpSpPr>
          <a:xfrm>
            <a:off x="4020412" y="703866"/>
            <a:ext cx="1631321" cy="4432566"/>
            <a:chOff x="5315409" y="949008"/>
            <a:chExt cx="2236010" cy="7084649"/>
          </a:xfrm>
        </p:grpSpPr>
        <p:sp>
          <p:nvSpPr>
            <p:cNvPr id="77" name="矩形 76"/>
            <p:cNvSpPr/>
            <p:nvPr>
              <p:custDataLst>
                <p:tags r:id="rId17"/>
              </p:custDataLst>
            </p:nvPr>
          </p:nvSpPr>
          <p:spPr>
            <a:xfrm>
              <a:off x="6110718" y="949008"/>
              <a:ext cx="1440701" cy="7084649"/>
            </a:xfrm>
            <a:prstGeom prst="rect">
              <a:avLst/>
            </a:prstGeom>
            <a:gradFill flip="none" rotWithShape="1">
              <a:gsLst>
                <a:gs pos="12000">
                  <a:srgbClr val="000000">
                    <a:lumMod val="50000"/>
                    <a:lumOff val="50000"/>
                    <a:alpha val="0"/>
                  </a:srgbClr>
                </a:gs>
                <a:gs pos="100000">
                  <a:srgbClr val="000000">
                    <a:lumMod val="85000"/>
                    <a:lumOff val="15000"/>
                    <a:alpha val="10000"/>
                  </a:srgbClr>
                </a:gs>
              </a:gsLst>
              <a:lin ang="10800000" scaled="1"/>
            </a:gradFill>
            <a:ln>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78" name="矩形 77"/>
            <p:cNvSpPr/>
            <p:nvPr>
              <p:custDataLst>
                <p:tags r:id="rId18"/>
              </p:custDataLst>
            </p:nvPr>
          </p:nvSpPr>
          <p:spPr>
            <a:xfrm>
              <a:off x="5315409" y="949008"/>
              <a:ext cx="806124" cy="7084649"/>
            </a:xfrm>
            <a:prstGeom prst="rect">
              <a:avLst/>
            </a:prstGeom>
            <a:gradFill flip="none" rotWithShape="1">
              <a:gsLst>
                <a:gs pos="12000">
                  <a:srgbClr val="000000">
                    <a:lumMod val="50000"/>
                    <a:lumOff val="50000"/>
                    <a:alpha val="0"/>
                  </a:srgbClr>
                </a:gs>
                <a:gs pos="100000">
                  <a:srgbClr val="000000">
                    <a:lumMod val="85000"/>
                    <a:lumOff val="15000"/>
                    <a:alpha val="10000"/>
                  </a:srgbClr>
                </a:gs>
              </a:gsLst>
              <a:lin ang="0" scaled="1"/>
            </a:gradFill>
            <a:ln>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sp>
        <p:nvSpPr>
          <p:cNvPr id="88" name="文本框 87"/>
          <p:cNvSpPr txBox="1"/>
          <p:nvPr>
            <p:custDataLst>
              <p:tags r:id="rId19"/>
            </p:custDataLst>
          </p:nvPr>
        </p:nvSpPr>
        <p:spPr>
          <a:xfrm>
            <a:off x="1261732" y="1032075"/>
            <a:ext cx="2397760" cy="450850"/>
          </a:xfrm>
          <a:prstGeom prst="rect">
            <a:avLst/>
          </a:prstGeom>
          <a:noFill/>
        </p:spPr>
        <p:txBody>
          <a:bodyPr wrap="none">
            <a:spAutoFit/>
          </a:bodyPr>
          <a:lstStyle/>
          <a:p>
            <a:pPr algn="l" defTabSz="1168400">
              <a:lnSpc>
                <a:spcPct val="130000"/>
              </a:lnSpc>
            </a:pPr>
            <a:r>
              <a:rPr lang="en-US" altLang="zh-CN" b="1" dirty="0"/>
              <a:t>1,</a:t>
            </a:r>
            <a:r>
              <a:rPr lang="en-US" altLang="zh-CN" b="1" dirty="0">
                <a:sym typeface="思源黑体 CN Bold" panose="020B0800000000000000" pitchFamily="34" charset="-122"/>
              </a:rPr>
              <a:t>思想指引与价值塑造</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503050405090304" charset="0"/>
              <a:sym typeface="思源黑体 CN Bold" panose="020B0800000000000000" pitchFamily="34" charset="-122"/>
            </a:endParaRPr>
          </a:p>
        </p:txBody>
      </p:sp>
      <p:sp>
        <p:nvSpPr>
          <p:cNvPr id="99" name="文本框 98"/>
          <p:cNvSpPr txBox="1"/>
          <p:nvPr>
            <p:custDataLst>
              <p:tags r:id="rId20"/>
            </p:custDataLst>
          </p:nvPr>
        </p:nvSpPr>
        <p:spPr>
          <a:xfrm>
            <a:off x="1037062" y="1628061"/>
            <a:ext cx="3386155" cy="3322955"/>
          </a:xfrm>
          <a:prstGeom prst="rect">
            <a:avLst/>
          </a:prstGeom>
          <a:noFill/>
        </p:spPr>
        <p:txBody>
          <a:bodyPr wrap="square">
            <a:spAutoFit/>
          </a:bodyPr>
          <a:lstStyle/>
          <a:p>
            <a:pPr defTabSz="1168400">
              <a:lnSpc>
                <a:spcPct val="150000"/>
              </a:lnSpc>
            </a:pP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坚定理想信念：深刻理解党的性质、宗旨和指导思想，筑牢信仰之基，明确为谁科研、为谁服务的根本问题，将个人学术追求与国家发展、民族复兴紧密结合。</a:t>
            </a:r>
            <a:endPar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endParaRPr>
          </a:p>
          <a:p>
            <a:pPr defTabSz="1168400">
              <a:lnSpc>
                <a:spcPct val="150000"/>
              </a:lnSpc>
            </a:pPr>
            <a:endPar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endParaRPr>
          </a:p>
          <a:p>
            <a:pPr defTabSz="1168400">
              <a:lnSpc>
                <a:spcPct val="150000"/>
              </a:lnSpc>
            </a:pP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明确政治方向：党章阐明了中国共产党是中国特色社会主义事业的领导核心。这有助于研究生把握正确的政治方向，增强</a:t>
            </a:r>
            <a:r>
              <a:rPr lang="en-US" altLang="zh-CN"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a:t>
            </a: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四个意识</a:t>
            </a:r>
            <a:r>
              <a:rPr lang="en-US" altLang="zh-CN"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a:t>
            </a: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，在纷繁复杂的国际国内环境中保持清醒头脑。</a:t>
            </a:r>
            <a:endPar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endParaRPr>
          </a:p>
        </p:txBody>
      </p:sp>
      <p:grpSp>
        <p:nvGrpSpPr>
          <p:cNvPr id="105" name="组合 104"/>
          <p:cNvGrpSpPr/>
          <p:nvPr>
            <p:custDataLst>
              <p:tags r:id="rId21"/>
            </p:custDataLst>
          </p:nvPr>
        </p:nvGrpSpPr>
        <p:grpSpPr>
          <a:xfrm>
            <a:off x="864504" y="1771760"/>
            <a:ext cx="131686" cy="131686"/>
            <a:chOff x="4079253" y="3794228"/>
            <a:chExt cx="131686" cy="131686"/>
          </a:xfrm>
        </p:grpSpPr>
        <p:sp>
          <p:nvSpPr>
            <p:cNvPr id="106" name="矩形: 圆角 72"/>
            <p:cNvSpPr/>
            <p:nvPr>
              <p:custDataLst>
                <p:tags r:id="rId22"/>
              </p:custDataLst>
            </p:nvPr>
          </p:nvSpPr>
          <p:spPr>
            <a:xfrm>
              <a:off x="4079253" y="3794228"/>
              <a:ext cx="131686" cy="131686"/>
            </a:xfrm>
            <a:prstGeom prst="roundRect">
              <a:avLst/>
            </a:prstGeom>
            <a:solidFill>
              <a:srgbClr val="C7ABDB">
                <a:alpha val="25000"/>
              </a:srgbClr>
            </a:solidFill>
            <a:ln w="635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107" name="矩形: 圆角 73"/>
            <p:cNvSpPr/>
            <p:nvPr>
              <p:custDataLst>
                <p:tags r:id="rId23"/>
              </p:custDataLst>
            </p:nvPr>
          </p:nvSpPr>
          <p:spPr>
            <a:xfrm>
              <a:off x="4103065" y="3818040"/>
              <a:ext cx="84062" cy="84062"/>
            </a:xfrm>
            <a:prstGeom prst="roundRect">
              <a:avLst/>
            </a:prstGeom>
            <a:solidFill>
              <a:srgbClr val="7030A0"/>
            </a:solidFill>
            <a:ln w="3810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grpSp>
        <p:nvGrpSpPr>
          <p:cNvPr id="130" name="组合 129"/>
          <p:cNvGrpSpPr/>
          <p:nvPr>
            <p:custDataLst>
              <p:tags r:id="rId24"/>
            </p:custDataLst>
          </p:nvPr>
        </p:nvGrpSpPr>
        <p:grpSpPr>
          <a:xfrm>
            <a:off x="5068579" y="1772216"/>
            <a:ext cx="131686" cy="131686"/>
            <a:chOff x="4079253" y="3794228"/>
            <a:chExt cx="131686" cy="131686"/>
          </a:xfrm>
        </p:grpSpPr>
        <p:sp>
          <p:nvSpPr>
            <p:cNvPr id="131" name="矩形: 圆角 72"/>
            <p:cNvSpPr/>
            <p:nvPr>
              <p:custDataLst>
                <p:tags r:id="rId25"/>
              </p:custDataLst>
            </p:nvPr>
          </p:nvSpPr>
          <p:spPr>
            <a:xfrm>
              <a:off x="4079253" y="3794228"/>
              <a:ext cx="131686" cy="131686"/>
            </a:xfrm>
            <a:prstGeom prst="roundRect">
              <a:avLst/>
            </a:prstGeom>
            <a:solidFill>
              <a:srgbClr val="C7ABDB">
                <a:alpha val="25000"/>
              </a:srgbClr>
            </a:solidFill>
            <a:ln w="635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132" name="矩形: 圆角 73"/>
            <p:cNvSpPr/>
            <p:nvPr>
              <p:custDataLst>
                <p:tags r:id="rId26"/>
              </p:custDataLst>
            </p:nvPr>
          </p:nvSpPr>
          <p:spPr>
            <a:xfrm>
              <a:off x="4103065" y="3818040"/>
              <a:ext cx="84062" cy="84062"/>
            </a:xfrm>
            <a:prstGeom prst="roundRect">
              <a:avLst/>
            </a:prstGeom>
            <a:solidFill>
              <a:srgbClr val="7030A0"/>
            </a:solidFill>
            <a:ln w="3810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grpSp>
        <p:nvGrpSpPr>
          <p:cNvPr id="137" name="组合 136"/>
          <p:cNvGrpSpPr/>
          <p:nvPr>
            <p:custDataLst>
              <p:tags r:id="rId27"/>
            </p:custDataLst>
          </p:nvPr>
        </p:nvGrpSpPr>
        <p:grpSpPr>
          <a:xfrm>
            <a:off x="873088" y="1134494"/>
            <a:ext cx="277178" cy="282237"/>
            <a:chOff x="2662744" y="876425"/>
            <a:chExt cx="369570" cy="376316"/>
          </a:xfrm>
          <a:solidFill>
            <a:srgbClr val="7030A0"/>
          </a:solidFill>
        </p:grpSpPr>
        <p:sp>
          <p:nvSpPr>
            <p:cNvPr id="147" name="箭头: V 形 27"/>
            <p:cNvSpPr/>
            <p:nvPr>
              <p:custDataLst>
                <p:tags r:id="rId28"/>
              </p:custDataLst>
            </p:nvPr>
          </p:nvSpPr>
          <p:spPr>
            <a:xfrm>
              <a:off x="2662744" y="876425"/>
              <a:ext cx="369570" cy="376316"/>
            </a:xfrm>
            <a:prstGeom prst="chevron">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black"/>
                </a:solidFill>
                <a:latin typeface="OPPOSans R" panose="00020600040101010101" charset="-122"/>
                <a:ea typeface="OPPOSans R" panose="00020600040101010101" charset="-122"/>
              </a:endParaRPr>
            </a:p>
          </p:txBody>
        </p:sp>
        <p:sp>
          <p:nvSpPr>
            <p:cNvPr id="164" name="等腰三角形 163"/>
            <p:cNvSpPr/>
            <p:nvPr>
              <p:custDataLst>
                <p:tags r:id="rId29"/>
              </p:custDataLst>
            </p:nvPr>
          </p:nvSpPr>
          <p:spPr>
            <a:xfrm rot="5400000">
              <a:off x="2652679" y="1026923"/>
              <a:ext cx="99278" cy="75320"/>
            </a:xfrm>
            <a:prstGeom prst="triangle">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white"/>
                </a:solidFill>
                <a:latin typeface="OPPOSans R" panose="00020600040101010101" charset="-122"/>
                <a:ea typeface="OPPOSans R" panose="00020600040101010101" charset="-122"/>
              </a:endParaRPr>
            </a:p>
          </p:txBody>
        </p:sp>
      </p:grpSp>
      <p:sp>
        <p:nvSpPr>
          <p:cNvPr id="5" name="Rectangle 3"/>
          <p:cNvSpPr>
            <a:spLocks noChangeArrowheads="1"/>
          </p:cNvSpPr>
          <p:nvPr>
            <p:custDataLst>
              <p:tags r:id="rId30"/>
            </p:custDataLst>
          </p:nvPr>
        </p:nvSpPr>
        <p:spPr bwMode="auto">
          <a:xfrm>
            <a:off x="5205730" y="3244215"/>
            <a:ext cx="3241040" cy="164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algn="l" defTabSz="1168400" rtl="0" latinLnBrk="0">
              <a:lnSpc>
                <a:spcPct val="150000"/>
              </a:lnSpc>
              <a:buClrTx/>
              <a:buSzTx/>
              <a:buFontTx/>
              <a:buNone/>
            </a:pPr>
            <a:r>
              <a:rPr kumimoji="0" lang="zh-CN" altLang="en-US" sz="1400" b="0" i="0" u="none" strike="noStrike" cap="none" normalizeH="0" baseline="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rPr>
              <a:t>党章所倡导的公道正派、实事求是、清正廉洁等价值观，同样是立身做人、求学治学的精神圭臬。它有助于培养研究生严谨的治学态度、求真务实的科学精神、不畏艰难的科学作风。</a:t>
            </a:r>
            <a:endParaRPr kumimoji="0" lang="zh-CN" altLang="en-US" sz="1400" b="0" i="0" u="none" strike="noStrike" cap="none" normalizeH="0" baseline="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endParaRPr>
          </a:p>
        </p:txBody>
      </p:sp>
      <p:grpSp>
        <p:nvGrpSpPr>
          <p:cNvPr id="8" name="组合 7"/>
          <p:cNvGrpSpPr/>
          <p:nvPr>
            <p:custDataLst>
              <p:tags r:id="rId31"/>
            </p:custDataLst>
          </p:nvPr>
        </p:nvGrpSpPr>
        <p:grpSpPr>
          <a:xfrm>
            <a:off x="902525" y="3375975"/>
            <a:ext cx="131686" cy="131686"/>
            <a:chOff x="4079253" y="3794228"/>
            <a:chExt cx="131686" cy="131686"/>
          </a:xfrm>
        </p:grpSpPr>
        <p:sp>
          <p:nvSpPr>
            <p:cNvPr id="9" name="矩形: 圆角 72"/>
            <p:cNvSpPr/>
            <p:nvPr>
              <p:custDataLst>
                <p:tags r:id="rId32"/>
              </p:custDataLst>
            </p:nvPr>
          </p:nvSpPr>
          <p:spPr>
            <a:xfrm>
              <a:off x="4079253" y="3794228"/>
              <a:ext cx="131686" cy="131686"/>
            </a:xfrm>
            <a:prstGeom prst="roundRect">
              <a:avLst/>
            </a:prstGeom>
            <a:solidFill>
              <a:srgbClr val="C7ABDB">
                <a:alpha val="25000"/>
              </a:srgbClr>
            </a:solidFill>
            <a:ln w="635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10" name="矩形: 圆角 73"/>
            <p:cNvSpPr/>
            <p:nvPr>
              <p:custDataLst>
                <p:tags r:id="rId33"/>
              </p:custDataLst>
            </p:nvPr>
          </p:nvSpPr>
          <p:spPr>
            <a:xfrm>
              <a:off x="4103065" y="3818040"/>
              <a:ext cx="84062" cy="84062"/>
            </a:xfrm>
            <a:prstGeom prst="roundRect">
              <a:avLst/>
            </a:prstGeom>
            <a:solidFill>
              <a:srgbClr val="7030A0"/>
            </a:solidFill>
            <a:ln w="3810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sp>
        <p:nvSpPr>
          <p:cNvPr id="12" name="文本框 11"/>
          <p:cNvSpPr txBox="1"/>
          <p:nvPr/>
        </p:nvSpPr>
        <p:spPr>
          <a:xfrm>
            <a:off x="5209832" y="1622966"/>
            <a:ext cx="3320603" cy="1383665"/>
          </a:xfrm>
          <a:prstGeom prst="rect">
            <a:avLst/>
          </a:prstGeom>
          <a:noFill/>
        </p:spPr>
        <p:txBody>
          <a:bodyPr wrap="square">
            <a:spAutoFit/>
          </a:bodyPr>
          <a:lstStyle/>
          <a:p>
            <a:pPr lvl="0" algn="l" defTabSz="1168400">
              <a:lnSpc>
                <a:spcPct val="150000"/>
              </a:lnSpc>
              <a:buClrTx/>
              <a:buSzTx/>
              <a:buFontTx/>
              <a:buNone/>
            </a:pP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rPr>
              <a:t>党章对于党员的要求指导</a:t>
            </a: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rPr>
              <a:t>研究生在学术研究、日常生活中必须严守学术道德、学术规范，杜绝学术不端，发挥先锋模范作用</a:t>
            </a:r>
            <a:endPar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endParaRPr>
          </a:p>
        </p:txBody>
      </p:sp>
      <p:grpSp>
        <p:nvGrpSpPr>
          <p:cNvPr id="13" name="组合 12"/>
          <p:cNvGrpSpPr/>
          <p:nvPr>
            <p:custDataLst>
              <p:tags r:id="rId34"/>
            </p:custDataLst>
          </p:nvPr>
        </p:nvGrpSpPr>
        <p:grpSpPr>
          <a:xfrm>
            <a:off x="5078017" y="3376095"/>
            <a:ext cx="131686" cy="131686"/>
            <a:chOff x="4079253" y="3794228"/>
            <a:chExt cx="131686" cy="131686"/>
          </a:xfrm>
        </p:grpSpPr>
        <p:sp>
          <p:nvSpPr>
            <p:cNvPr id="14" name="矩形: 圆角 72"/>
            <p:cNvSpPr/>
            <p:nvPr>
              <p:custDataLst>
                <p:tags r:id="rId35"/>
              </p:custDataLst>
            </p:nvPr>
          </p:nvSpPr>
          <p:spPr>
            <a:xfrm>
              <a:off x="4079253" y="3794228"/>
              <a:ext cx="131686" cy="131686"/>
            </a:xfrm>
            <a:prstGeom prst="roundRect">
              <a:avLst/>
            </a:prstGeom>
            <a:solidFill>
              <a:srgbClr val="C7ABDB">
                <a:alpha val="25000"/>
              </a:srgbClr>
            </a:solidFill>
            <a:ln w="635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15" name="矩形: 圆角 73"/>
            <p:cNvSpPr/>
            <p:nvPr>
              <p:custDataLst>
                <p:tags r:id="rId36"/>
              </p:custDataLst>
            </p:nvPr>
          </p:nvSpPr>
          <p:spPr>
            <a:xfrm>
              <a:off x="4103065" y="3818040"/>
              <a:ext cx="84062" cy="84062"/>
            </a:xfrm>
            <a:prstGeom prst="roundRect">
              <a:avLst/>
            </a:prstGeom>
            <a:solidFill>
              <a:srgbClr val="7030A0"/>
            </a:solidFill>
            <a:ln w="3810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sp>
        <p:nvSpPr>
          <p:cNvPr id="2" name="文本框 1"/>
          <p:cNvSpPr txBox="1"/>
          <p:nvPr>
            <p:custDataLst>
              <p:tags r:id="rId37"/>
            </p:custDataLst>
          </p:nvPr>
        </p:nvSpPr>
        <p:spPr>
          <a:xfrm>
            <a:off x="5482577" y="1068905"/>
            <a:ext cx="2397760" cy="450850"/>
          </a:xfrm>
          <a:prstGeom prst="rect">
            <a:avLst/>
          </a:prstGeom>
          <a:noFill/>
        </p:spPr>
        <p:txBody>
          <a:bodyPr wrap="none">
            <a:spAutoFit/>
          </a:bodyPr>
          <a:lstStyle/>
          <a:p>
            <a:pPr algn="l" defTabSz="1168400">
              <a:lnSpc>
                <a:spcPct val="130000"/>
              </a:lnSpc>
            </a:pPr>
            <a:r>
              <a:rPr lang="en-US" altLang="zh-CN" b="1" dirty="0"/>
              <a:t>2,</a:t>
            </a:r>
            <a:r>
              <a:rPr lang="en-US" altLang="zh-CN" b="1" dirty="0">
                <a:sym typeface="思源黑体 CN Bold" panose="020B0800000000000000" pitchFamily="34" charset="-122"/>
              </a:rPr>
              <a:t>行为规范与纪律约束</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503050405090304" charset="0"/>
              <a:sym typeface="思源黑体 CN Bold" panose="020B0800000000000000" pitchFamily="34" charset="-122"/>
            </a:endParaRPr>
          </a:p>
        </p:txBody>
      </p:sp>
      <p:grpSp>
        <p:nvGrpSpPr>
          <p:cNvPr id="3" name="组合 2"/>
          <p:cNvGrpSpPr/>
          <p:nvPr>
            <p:custDataLst>
              <p:tags r:id="rId38"/>
            </p:custDataLst>
          </p:nvPr>
        </p:nvGrpSpPr>
        <p:grpSpPr>
          <a:xfrm>
            <a:off x="5093933" y="1171324"/>
            <a:ext cx="277178" cy="282237"/>
            <a:chOff x="2662744" y="876425"/>
            <a:chExt cx="369570" cy="376316"/>
          </a:xfrm>
          <a:solidFill>
            <a:srgbClr val="7030A0"/>
          </a:solidFill>
        </p:grpSpPr>
        <p:sp>
          <p:nvSpPr>
            <p:cNvPr id="6" name="箭头: V 形 27"/>
            <p:cNvSpPr/>
            <p:nvPr>
              <p:custDataLst>
                <p:tags r:id="rId39"/>
              </p:custDataLst>
            </p:nvPr>
          </p:nvSpPr>
          <p:spPr>
            <a:xfrm>
              <a:off x="2662744" y="876425"/>
              <a:ext cx="369570" cy="376316"/>
            </a:xfrm>
            <a:prstGeom prst="chevron">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black"/>
                </a:solidFill>
                <a:latin typeface="OPPOSans R" panose="00020600040101010101" charset="-122"/>
                <a:ea typeface="OPPOSans R" panose="00020600040101010101" charset="-122"/>
              </a:endParaRPr>
            </a:p>
          </p:txBody>
        </p:sp>
        <p:sp>
          <p:nvSpPr>
            <p:cNvPr id="11" name="等腰三角形 10"/>
            <p:cNvSpPr/>
            <p:nvPr>
              <p:custDataLst>
                <p:tags r:id="rId40"/>
              </p:custDataLst>
            </p:nvPr>
          </p:nvSpPr>
          <p:spPr>
            <a:xfrm rot="5400000">
              <a:off x="2652679" y="1026923"/>
              <a:ext cx="99278" cy="75320"/>
            </a:xfrm>
            <a:prstGeom prst="triangle">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white"/>
                </a:solidFill>
                <a:latin typeface="OPPOSans R" panose="00020600040101010101" charset="-122"/>
                <a:ea typeface="OPPOSans R" panose="00020600040101010101"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rPr>
              <a:t>党章对研究生的指导作用</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rotWithShape="1">
          <a:blip r:embed="rId1" cstate="print"/>
          <a:srcRect/>
          <a:stretch>
            <a:fillRect/>
          </a:stretch>
        </p:blipFill>
        <p:spPr>
          <a:xfrm>
            <a:off x="7517820" y="0"/>
            <a:ext cx="1504950" cy="703866"/>
          </a:xfrm>
          <a:prstGeom prst="rect">
            <a:avLst/>
          </a:prstGeom>
        </p:spPr>
      </p:pic>
      <p:grpSp>
        <p:nvGrpSpPr>
          <p:cNvPr id="54" name="图形 1"/>
          <p:cNvGrpSpPr/>
          <p:nvPr>
            <p:custDataLst>
              <p:tags r:id="rId2"/>
            </p:custDataLst>
          </p:nvPr>
        </p:nvGrpSpPr>
        <p:grpSpPr>
          <a:xfrm>
            <a:off x="322117" y="715156"/>
            <a:ext cx="8538583" cy="4398869"/>
            <a:chOff x="967935" y="967404"/>
            <a:chExt cx="10508291" cy="7167549"/>
          </a:xfrm>
        </p:grpSpPr>
        <p:grpSp>
          <p:nvGrpSpPr>
            <p:cNvPr id="58" name="图形 1"/>
            <p:cNvGrpSpPr/>
            <p:nvPr/>
          </p:nvGrpSpPr>
          <p:grpSpPr>
            <a:xfrm>
              <a:off x="967935" y="967949"/>
              <a:ext cx="333844" cy="7167004"/>
              <a:chOff x="967935" y="967949"/>
              <a:chExt cx="333844" cy="7167004"/>
            </a:xfrm>
          </p:grpSpPr>
          <p:sp>
            <p:nvSpPr>
              <p:cNvPr id="71" name="任意多边形: 形状 59"/>
              <p:cNvSpPr/>
              <p:nvPr>
                <p:custDataLst>
                  <p:tags r:id="rId3"/>
                </p:custDataLst>
              </p:nvPr>
            </p:nvSpPr>
            <p:spPr>
              <a:xfrm>
                <a:off x="967935" y="997151"/>
                <a:ext cx="228087" cy="7105444"/>
              </a:xfrm>
              <a:custGeom>
                <a:avLst/>
                <a:gdLst>
                  <a:gd name="connsiteX0" fmla="*/ 0 w 228087"/>
                  <a:gd name="connsiteY0" fmla="*/ 0 h 7105444"/>
                  <a:gd name="connsiteX1" fmla="*/ 228088 w 228087"/>
                  <a:gd name="connsiteY1" fmla="*/ 0 h 7105444"/>
                  <a:gd name="connsiteX2" fmla="*/ 228088 w 228087"/>
                  <a:gd name="connsiteY2" fmla="*/ 7105445 h 7105444"/>
                  <a:gd name="connsiteX3" fmla="*/ 0 w 228087"/>
                  <a:gd name="connsiteY3" fmla="*/ 7105445 h 7105444"/>
                </a:gdLst>
                <a:ahLst/>
                <a:cxnLst>
                  <a:cxn ang="0">
                    <a:pos x="connsiteX0" y="connsiteY0"/>
                  </a:cxn>
                  <a:cxn ang="0">
                    <a:pos x="connsiteX1" y="connsiteY1"/>
                  </a:cxn>
                  <a:cxn ang="0">
                    <a:pos x="connsiteX2" y="connsiteY2"/>
                  </a:cxn>
                  <a:cxn ang="0">
                    <a:pos x="connsiteX3" y="connsiteY3"/>
                  </a:cxn>
                </a:cxnLst>
                <a:rect l="l" t="t" r="r" b="b"/>
                <a:pathLst>
                  <a:path w="228087" h="7105444">
                    <a:moveTo>
                      <a:pt x="0" y="0"/>
                    </a:moveTo>
                    <a:lnTo>
                      <a:pt x="228088" y="0"/>
                    </a:lnTo>
                    <a:lnTo>
                      <a:pt x="228088" y="7105445"/>
                    </a:lnTo>
                    <a:lnTo>
                      <a:pt x="0" y="710544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2" name="任意多边形: 形状 60"/>
              <p:cNvSpPr/>
              <p:nvPr>
                <p:custDataLst>
                  <p:tags r:id="rId4"/>
                </p:custDataLst>
              </p:nvPr>
            </p:nvSpPr>
            <p:spPr>
              <a:xfrm>
                <a:off x="988455" y="993994"/>
                <a:ext cx="228087" cy="7114126"/>
              </a:xfrm>
              <a:custGeom>
                <a:avLst/>
                <a:gdLst>
                  <a:gd name="connsiteX0" fmla="*/ 0 w 228087"/>
                  <a:gd name="connsiteY0" fmla="*/ 0 h 7114126"/>
                  <a:gd name="connsiteX1" fmla="*/ 228088 w 228087"/>
                  <a:gd name="connsiteY1" fmla="*/ 0 h 7114126"/>
                  <a:gd name="connsiteX2" fmla="*/ 228088 w 228087"/>
                  <a:gd name="connsiteY2" fmla="*/ 7114126 h 7114126"/>
                  <a:gd name="connsiteX3" fmla="*/ 0 w 228087"/>
                  <a:gd name="connsiteY3" fmla="*/ 7114126 h 7114126"/>
                </a:gdLst>
                <a:ahLst/>
                <a:cxnLst>
                  <a:cxn ang="0">
                    <a:pos x="connsiteX0" y="connsiteY0"/>
                  </a:cxn>
                  <a:cxn ang="0">
                    <a:pos x="connsiteX1" y="connsiteY1"/>
                  </a:cxn>
                  <a:cxn ang="0">
                    <a:pos x="connsiteX2" y="connsiteY2"/>
                  </a:cxn>
                  <a:cxn ang="0">
                    <a:pos x="connsiteX3" y="connsiteY3"/>
                  </a:cxn>
                </a:cxnLst>
                <a:rect l="l" t="t" r="r" b="b"/>
                <a:pathLst>
                  <a:path w="228087" h="7114126">
                    <a:moveTo>
                      <a:pt x="0" y="0"/>
                    </a:moveTo>
                    <a:lnTo>
                      <a:pt x="228088" y="0"/>
                    </a:lnTo>
                    <a:lnTo>
                      <a:pt x="228088" y="7114126"/>
                    </a:lnTo>
                    <a:lnTo>
                      <a:pt x="0" y="7114126"/>
                    </a:lnTo>
                    <a:close/>
                  </a:path>
                </a:pathLst>
              </a:custGeom>
              <a:solidFill>
                <a:srgbClr val="C7ABD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3" name="任意多边形: 形状 61"/>
              <p:cNvSpPr/>
              <p:nvPr>
                <p:custDataLst>
                  <p:tags r:id="rId5"/>
                </p:custDataLst>
              </p:nvPr>
            </p:nvSpPr>
            <p:spPr>
              <a:xfrm>
                <a:off x="1014499" y="984523"/>
                <a:ext cx="228876" cy="7133067"/>
              </a:xfrm>
              <a:custGeom>
                <a:avLst/>
                <a:gdLst>
                  <a:gd name="connsiteX0" fmla="*/ 0 w 228876"/>
                  <a:gd name="connsiteY0" fmla="*/ 0 h 7133067"/>
                  <a:gd name="connsiteX1" fmla="*/ 228877 w 228876"/>
                  <a:gd name="connsiteY1" fmla="*/ 0 h 7133067"/>
                  <a:gd name="connsiteX2" fmla="*/ 228877 w 228876"/>
                  <a:gd name="connsiteY2" fmla="*/ 7133068 h 7133067"/>
                  <a:gd name="connsiteX3" fmla="*/ 0 w 228876"/>
                  <a:gd name="connsiteY3" fmla="*/ 7133068 h 7133067"/>
                </a:gdLst>
                <a:ahLst/>
                <a:cxnLst>
                  <a:cxn ang="0">
                    <a:pos x="connsiteX0" y="connsiteY0"/>
                  </a:cxn>
                  <a:cxn ang="0">
                    <a:pos x="connsiteX1" y="connsiteY1"/>
                  </a:cxn>
                  <a:cxn ang="0">
                    <a:pos x="connsiteX2" y="connsiteY2"/>
                  </a:cxn>
                  <a:cxn ang="0">
                    <a:pos x="connsiteX3" y="connsiteY3"/>
                  </a:cxn>
                </a:cxnLst>
                <a:rect l="l" t="t" r="r" b="b"/>
                <a:pathLst>
                  <a:path w="228871" h="7133067">
                    <a:moveTo>
                      <a:pt x="0" y="0"/>
                    </a:moveTo>
                    <a:lnTo>
                      <a:pt x="228877" y="0"/>
                    </a:lnTo>
                    <a:lnTo>
                      <a:pt x="228877" y="7133068"/>
                    </a:lnTo>
                    <a:lnTo>
                      <a:pt x="0" y="7133068"/>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4" name="任意多边形: 形状 62"/>
              <p:cNvSpPr/>
              <p:nvPr>
                <p:custDataLst>
                  <p:tags r:id="rId6"/>
                </p:custDataLst>
              </p:nvPr>
            </p:nvSpPr>
            <p:spPr>
              <a:xfrm>
                <a:off x="1031073" y="975052"/>
                <a:ext cx="228876" cy="7151220"/>
              </a:xfrm>
              <a:custGeom>
                <a:avLst/>
                <a:gdLst>
                  <a:gd name="connsiteX0" fmla="*/ 0 w 228876"/>
                  <a:gd name="connsiteY0" fmla="*/ 0 h 7151220"/>
                  <a:gd name="connsiteX1" fmla="*/ 228877 w 228876"/>
                  <a:gd name="connsiteY1" fmla="*/ 0 h 7151220"/>
                  <a:gd name="connsiteX2" fmla="*/ 228877 w 228876"/>
                  <a:gd name="connsiteY2" fmla="*/ 7151221 h 7151220"/>
                  <a:gd name="connsiteX3" fmla="*/ 0 w 228876"/>
                  <a:gd name="connsiteY3" fmla="*/ 7151221 h 7151220"/>
                </a:gdLst>
                <a:ahLst/>
                <a:cxnLst>
                  <a:cxn ang="0">
                    <a:pos x="connsiteX0" y="connsiteY0"/>
                  </a:cxn>
                  <a:cxn ang="0">
                    <a:pos x="connsiteX1" y="connsiteY1"/>
                  </a:cxn>
                  <a:cxn ang="0">
                    <a:pos x="connsiteX2" y="connsiteY2"/>
                  </a:cxn>
                  <a:cxn ang="0">
                    <a:pos x="connsiteX3" y="connsiteY3"/>
                  </a:cxn>
                </a:cxnLst>
                <a:rect l="l" t="t" r="r" b="b"/>
                <a:pathLst>
                  <a:path w="228871" h="7151220">
                    <a:moveTo>
                      <a:pt x="0" y="0"/>
                    </a:moveTo>
                    <a:lnTo>
                      <a:pt x="228877" y="0"/>
                    </a:lnTo>
                    <a:lnTo>
                      <a:pt x="228877" y="7151221"/>
                    </a:lnTo>
                    <a:lnTo>
                      <a:pt x="0" y="7151221"/>
                    </a:lnTo>
                    <a:close/>
                  </a:path>
                </a:pathLst>
              </a:custGeom>
              <a:solidFill>
                <a:srgbClr val="E3E3E3"/>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5" name="任意多边形: 形状 63"/>
              <p:cNvSpPr/>
              <p:nvPr>
                <p:custDataLst>
                  <p:tags r:id="rId7"/>
                </p:custDataLst>
              </p:nvPr>
            </p:nvSpPr>
            <p:spPr>
              <a:xfrm>
                <a:off x="1072113" y="967949"/>
                <a:ext cx="229666" cy="7167004"/>
              </a:xfrm>
              <a:custGeom>
                <a:avLst/>
                <a:gdLst>
                  <a:gd name="connsiteX0" fmla="*/ 0 w 229666"/>
                  <a:gd name="connsiteY0" fmla="*/ 0 h 7167004"/>
                  <a:gd name="connsiteX1" fmla="*/ 229666 w 229666"/>
                  <a:gd name="connsiteY1" fmla="*/ 0 h 7167004"/>
                  <a:gd name="connsiteX2" fmla="*/ 229666 w 229666"/>
                  <a:gd name="connsiteY2" fmla="*/ 7167005 h 7167004"/>
                  <a:gd name="connsiteX3" fmla="*/ 0 w 229666"/>
                  <a:gd name="connsiteY3" fmla="*/ 7167005 h 7167004"/>
                </a:gdLst>
                <a:ahLst/>
                <a:cxnLst>
                  <a:cxn ang="0">
                    <a:pos x="connsiteX0" y="connsiteY0"/>
                  </a:cxn>
                  <a:cxn ang="0">
                    <a:pos x="connsiteX1" y="connsiteY1"/>
                  </a:cxn>
                  <a:cxn ang="0">
                    <a:pos x="connsiteX2" y="connsiteY2"/>
                  </a:cxn>
                  <a:cxn ang="0">
                    <a:pos x="connsiteX3" y="connsiteY3"/>
                  </a:cxn>
                </a:cxnLst>
                <a:rect l="l" t="t" r="r" b="b"/>
                <a:pathLst>
                  <a:path w="229666" h="7167004">
                    <a:moveTo>
                      <a:pt x="0" y="0"/>
                    </a:moveTo>
                    <a:lnTo>
                      <a:pt x="229666" y="0"/>
                    </a:lnTo>
                    <a:lnTo>
                      <a:pt x="229666" y="7167005"/>
                    </a:lnTo>
                    <a:lnTo>
                      <a:pt x="0" y="716700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59" name="图形 1"/>
            <p:cNvGrpSpPr/>
            <p:nvPr/>
          </p:nvGrpSpPr>
          <p:grpSpPr>
            <a:xfrm>
              <a:off x="11141988" y="967404"/>
              <a:ext cx="334238" cy="7167004"/>
              <a:chOff x="11141988" y="967404"/>
              <a:chExt cx="334238" cy="7167004"/>
            </a:xfrm>
          </p:grpSpPr>
          <p:sp>
            <p:nvSpPr>
              <p:cNvPr id="61" name="任意多边形: 形状 53"/>
              <p:cNvSpPr/>
              <p:nvPr>
                <p:custDataLst>
                  <p:tags r:id="rId8"/>
                </p:custDataLst>
              </p:nvPr>
            </p:nvSpPr>
            <p:spPr>
              <a:xfrm rot="-10800000">
                <a:off x="11248139" y="997356"/>
                <a:ext cx="228087" cy="7105444"/>
              </a:xfrm>
              <a:custGeom>
                <a:avLst/>
                <a:gdLst>
                  <a:gd name="connsiteX0" fmla="*/ 0 w 228087"/>
                  <a:gd name="connsiteY0" fmla="*/ 0 h 7105444"/>
                  <a:gd name="connsiteX1" fmla="*/ 228088 w 228087"/>
                  <a:gd name="connsiteY1" fmla="*/ 0 h 7105444"/>
                  <a:gd name="connsiteX2" fmla="*/ 228088 w 228087"/>
                  <a:gd name="connsiteY2" fmla="*/ 7105445 h 7105444"/>
                  <a:gd name="connsiteX3" fmla="*/ 0 w 228087"/>
                  <a:gd name="connsiteY3" fmla="*/ 7105445 h 7105444"/>
                </a:gdLst>
                <a:ahLst/>
                <a:cxnLst>
                  <a:cxn ang="0">
                    <a:pos x="connsiteX0" y="connsiteY0"/>
                  </a:cxn>
                  <a:cxn ang="0">
                    <a:pos x="connsiteX1" y="connsiteY1"/>
                  </a:cxn>
                  <a:cxn ang="0">
                    <a:pos x="connsiteX2" y="connsiteY2"/>
                  </a:cxn>
                  <a:cxn ang="0">
                    <a:pos x="connsiteX3" y="connsiteY3"/>
                  </a:cxn>
                </a:cxnLst>
                <a:rect l="l" t="t" r="r" b="b"/>
                <a:pathLst>
                  <a:path w="228087" h="7105444">
                    <a:moveTo>
                      <a:pt x="0" y="0"/>
                    </a:moveTo>
                    <a:lnTo>
                      <a:pt x="228088" y="0"/>
                    </a:lnTo>
                    <a:lnTo>
                      <a:pt x="228088" y="7105445"/>
                    </a:lnTo>
                    <a:lnTo>
                      <a:pt x="0" y="710544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2" name="任意多边形: 形状 54"/>
              <p:cNvSpPr/>
              <p:nvPr>
                <p:custDataLst>
                  <p:tags r:id="rId9"/>
                </p:custDataLst>
              </p:nvPr>
            </p:nvSpPr>
            <p:spPr>
              <a:xfrm rot="-10800000">
                <a:off x="11227777" y="993915"/>
                <a:ext cx="228087" cy="7114126"/>
              </a:xfrm>
              <a:custGeom>
                <a:avLst/>
                <a:gdLst>
                  <a:gd name="connsiteX0" fmla="*/ 0 w 228087"/>
                  <a:gd name="connsiteY0" fmla="*/ 0 h 7114126"/>
                  <a:gd name="connsiteX1" fmla="*/ 228088 w 228087"/>
                  <a:gd name="connsiteY1" fmla="*/ 0 h 7114126"/>
                  <a:gd name="connsiteX2" fmla="*/ 228088 w 228087"/>
                  <a:gd name="connsiteY2" fmla="*/ 7114126 h 7114126"/>
                  <a:gd name="connsiteX3" fmla="*/ 0 w 228087"/>
                  <a:gd name="connsiteY3" fmla="*/ 7114126 h 7114126"/>
                </a:gdLst>
                <a:ahLst/>
                <a:cxnLst>
                  <a:cxn ang="0">
                    <a:pos x="connsiteX0" y="connsiteY0"/>
                  </a:cxn>
                  <a:cxn ang="0">
                    <a:pos x="connsiteX1" y="connsiteY1"/>
                  </a:cxn>
                  <a:cxn ang="0">
                    <a:pos x="connsiteX2" y="connsiteY2"/>
                  </a:cxn>
                  <a:cxn ang="0">
                    <a:pos x="connsiteX3" y="connsiteY3"/>
                  </a:cxn>
                </a:cxnLst>
                <a:rect l="l" t="t" r="r" b="b"/>
                <a:pathLst>
                  <a:path w="228087" h="7114126">
                    <a:moveTo>
                      <a:pt x="0" y="0"/>
                    </a:moveTo>
                    <a:lnTo>
                      <a:pt x="228088" y="0"/>
                    </a:lnTo>
                    <a:lnTo>
                      <a:pt x="228088" y="7114126"/>
                    </a:lnTo>
                    <a:lnTo>
                      <a:pt x="0" y="7114126"/>
                    </a:lnTo>
                    <a:close/>
                  </a:path>
                </a:pathLst>
              </a:custGeom>
              <a:solidFill>
                <a:srgbClr val="D9D9D9"/>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3" name="任意多边形: 形状 55"/>
              <p:cNvSpPr/>
              <p:nvPr>
                <p:custDataLst>
                  <p:tags r:id="rId10"/>
                </p:custDataLst>
              </p:nvPr>
            </p:nvSpPr>
            <p:spPr>
              <a:xfrm rot="-10800000">
                <a:off x="11200706" y="984768"/>
                <a:ext cx="228876" cy="7133067"/>
              </a:xfrm>
              <a:custGeom>
                <a:avLst/>
                <a:gdLst>
                  <a:gd name="connsiteX0" fmla="*/ 0 w 228876"/>
                  <a:gd name="connsiteY0" fmla="*/ 0 h 7133067"/>
                  <a:gd name="connsiteX1" fmla="*/ 228877 w 228876"/>
                  <a:gd name="connsiteY1" fmla="*/ 0 h 7133067"/>
                  <a:gd name="connsiteX2" fmla="*/ 228877 w 228876"/>
                  <a:gd name="connsiteY2" fmla="*/ 7133068 h 7133067"/>
                  <a:gd name="connsiteX3" fmla="*/ 0 w 228876"/>
                  <a:gd name="connsiteY3" fmla="*/ 7133068 h 7133067"/>
                </a:gdLst>
                <a:ahLst/>
                <a:cxnLst>
                  <a:cxn ang="0">
                    <a:pos x="connsiteX0" y="connsiteY0"/>
                  </a:cxn>
                  <a:cxn ang="0">
                    <a:pos x="connsiteX1" y="connsiteY1"/>
                  </a:cxn>
                  <a:cxn ang="0">
                    <a:pos x="connsiteX2" y="connsiteY2"/>
                  </a:cxn>
                  <a:cxn ang="0">
                    <a:pos x="connsiteX3" y="connsiteY3"/>
                  </a:cxn>
                </a:cxnLst>
                <a:rect l="l" t="t" r="r" b="b"/>
                <a:pathLst>
                  <a:path w="228871" h="7133067">
                    <a:moveTo>
                      <a:pt x="0" y="0"/>
                    </a:moveTo>
                    <a:lnTo>
                      <a:pt x="228877" y="0"/>
                    </a:lnTo>
                    <a:lnTo>
                      <a:pt x="228877" y="7133068"/>
                    </a:lnTo>
                    <a:lnTo>
                      <a:pt x="0" y="7133068"/>
                    </a:lnTo>
                    <a:close/>
                  </a:path>
                </a:pathLst>
              </a:custGeom>
              <a:solidFill>
                <a:srgbClr val="C7ABD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5" name="任意多边形: 形状 56"/>
              <p:cNvSpPr/>
              <p:nvPr>
                <p:custDataLst>
                  <p:tags r:id="rId11"/>
                </p:custDataLst>
              </p:nvPr>
            </p:nvSpPr>
            <p:spPr>
              <a:xfrm rot="10800000">
                <a:off x="11184606" y="974208"/>
                <a:ext cx="228876" cy="7151220"/>
              </a:xfrm>
              <a:custGeom>
                <a:avLst/>
                <a:gdLst>
                  <a:gd name="connsiteX0" fmla="*/ 0 w 228876"/>
                  <a:gd name="connsiteY0" fmla="*/ 0 h 7151220"/>
                  <a:gd name="connsiteX1" fmla="*/ 228877 w 228876"/>
                  <a:gd name="connsiteY1" fmla="*/ 0 h 7151220"/>
                  <a:gd name="connsiteX2" fmla="*/ 228877 w 228876"/>
                  <a:gd name="connsiteY2" fmla="*/ 7151220 h 7151220"/>
                  <a:gd name="connsiteX3" fmla="*/ 0 w 228876"/>
                  <a:gd name="connsiteY3" fmla="*/ 7151220 h 7151220"/>
                </a:gdLst>
                <a:ahLst/>
                <a:cxnLst>
                  <a:cxn ang="0">
                    <a:pos x="connsiteX0" y="connsiteY0"/>
                  </a:cxn>
                  <a:cxn ang="0">
                    <a:pos x="connsiteX1" y="connsiteY1"/>
                  </a:cxn>
                  <a:cxn ang="0">
                    <a:pos x="connsiteX2" y="connsiteY2"/>
                  </a:cxn>
                  <a:cxn ang="0">
                    <a:pos x="connsiteX3" y="connsiteY3"/>
                  </a:cxn>
                </a:cxnLst>
                <a:rect l="l" t="t" r="r" b="b"/>
                <a:pathLst>
                  <a:path w="228871" h="7151220">
                    <a:moveTo>
                      <a:pt x="0" y="0"/>
                    </a:moveTo>
                    <a:lnTo>
                      <a:pt x="228877" y="0"/>
                    </a:lnTo>
                    <a:lnTo>
                      <a:pt x="228877" y="7151220"/>
                    </a:lnTo>
                    <a:lnTo>
                      <a:pt x="0" y="7151220"/>
                    </a:lnTo>
                    <a:close/>
                  </a:path>
                </a:pathLst>
              </a:custGeom>
              <a:solidFill>
                <a:srgbClr val="E3E3E3"/>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8" name="任意多边形: 形状 57"/>
              <p:cNvSpPr/>
              <p:nvPr>
                <p:custDataLst>
                  <p:tags r:id="rId12"/>
                </p:custDataLst>
              </p:nvPr>
            </p:nvSpPr>
            <p:spPr>
              <a:xfrm rot="-10800000">
                <a:off x="11141988" y="967404"/>
                <a:ext cx="229666" cy="7167004"/>
              </a:xfrm>
              <a:custGeom>
                <a:avLst/>
                <a:gdLst>
                  <a:gd name="connsiteX0" fmla="*/ 0 w 229666"/>
                  <a:gd name="connsiteY0" fmla="*/ 0 h 7167004"/>
                  <a:gd name="connsiteX1" fmla="*/ 229666 w 229666"/>
                  <a:gd name="connsiteY1" fmla="*/ 0 h 7167004"/>
                  <a:gd name="connsiteX2" fmla="*/ 229666 w 229666"/>
                  <a:gd name="connsiteY2" fmla="*/ 7167005 h 7167004"/>
                  <a:gd name="connsiteX3" fmla="*/ 0 w 229666"/>
                  <a:gd name="connsiteY3" fmla="*/ 7167005 h 7167004"/>
                </a:gdLst>
                <a:ahLst/>
                <a:cxnLst>
                  <a:cxn ang="0">
                    <a:pos x="connsiteX0" y="connsiteY0"/>
                  </a:cxn>
                  <a:cxn ang="0">
                    <a:pos x="connsiteX1" y="connsiteY1"/>
                  </a:cxn>
                  <a:cxn ang="0">
                    <a:pos x="connsiteX2" y="connsiteY2"/>
                  </a:cxn>
                  <a:cxn ang="0">
                    <a:pos x="connsiteX3" y="connsiteY3"/>
                  </a:cxn>
                </a:cxnLst>
                <a:rect l="l" t="t" r="r" b="b"/>
                <a:pathLst>
                  <a:path w="229666" h="7167004">
                    <a:moveTo>
                      <a:pt x="0" y="0"/>
                    </a:moveTo>
                    <a:lnTo>
                      <a:pt x="229666" y="0"/>
                    </a:lnTo>
                    <a:lnTo>
                      <a:pt x="229666" y="7167005"/>
                    </a:lnTo>
                    <a:lnTo>
                      <a:pt x="0" y="7167005"/>
                    </a:lnTo>
                    <a:close/>
                  </a:path>
                </a:pathLst>
              </a:custGeom>
              <a:solidFill>
                <a:srgbClr val="EBEBEB"/>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sp>
        <p:nvSpPr>
          <p:cNvPr id="55" name="任意多边形: 形状 47"/>
          <p:cNvSpPr/>
          <p:nvPr>
            <p:custDataLst>
              <p:tags r:id="rId13"/>
            </p:custDataLst>
          </p:nvPr>
        </p:nvSpPr>
        <p:spPr>
          <a:xfrm>
            <a:off x="439474" y="703866"/>
            <a:ext cx="4139557" cy="4435778"/>
          </a:xfrm>
          <a:custGeom>
            <a:avLst/>
            <a:gdLst>
              <a:gd name="connsiteX0" fmla="*/ 0 w 5094484"/>
              <a:gd name="connsiteY0" fmla="*/ 7204888 h 7227688"/>
              <a:gd name="connsiteX1" fmla="*/ 5094485 w 5094484"/>
              <a:gd name="connsiteY1" fmla="*/ 7204888 h 7227688"/>
              <a:gd name="connsiteX2" fmla="*/ 5094485 w 5094484"/>
              <a:gd name="connsiteY2" fmla="*/ 0 h 7227688"/>
              <a:gd name="connsiteX3" fmla="*/ 0 w 5094484"/>
              <a:gd name="connsiteY3" fmla="*/ 0 h 7227688"/>
              <a:gd name="connsiteX4" fmla="*/ 0 w 5094484"/>
              <a:gd name="connsiteY4" fmla="*/ 7204888 h 722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4484" h="7227688">
                <a:moveTo>
                  <a:pt x="0" y="7204888"/>
                </a:moveTo>
                <a:cubicBezTo>
                  <a:pt x="0" y="7204888"/>
                  <a:pt x="5094485" y="7256188"/>
                  <a:pt x="5094485" y="7204888"/>
                </a:cubicBezTo>
                <a:cubicBezTo>
                  <a:pt x="5094485" y="7153588"/>
                  <a:pt x="5094485" y="0"/>
                  <a:pt x="5094485" y="0"/>
                </a:cubicBezTo>
                <a:lnTo>
                  <a:pt x="0" y="0"/>
                </a:lnTo>
                <a:lnTo>
                  <a:pt x="0" y="7204888"/>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6" name="任意多边形: 形状 48"/>
          <p:cNvSpPr/>
          <p:nvPr>
            <p:custDataLst>
              <p:tags r:id="rId14"/>
            </p:custDataLst>
          </p:nvPr>
        </p:nvSpPr>
        <p:spPr>
          <a:xfrm>
            <a:off x="4579031" y="703866"/>
            <a:ext cx="4139557" cy="4435778"/>
          </a:xfrm>
          <a:custGeom>
            <a:avLst/>
            <a:gdLst>
              <a:gd name="connsiteX0" fmla="*/ 5094485 w 5094484"/>
              <a:gd name="connsiteY0" fmla="*/ 7204888 h 7227688"/>
              <a:gd name="connsiteX1" fmla="*/ 0 w 5094484"/>
              <a:gd name="connsiteY1" fmla="*/ 7204888 h 7227688"/>
              <a:gd name="connsiteX2" fmla="*/ 0 w 5094484"/>
              <a:gd name="connsiteY2" fmla="*/ 0 h 7227688"/>
              <a:gd name="connsiteX3" fmla="*/ 5094485 w 5094484"/>
              <a:gd name="connsiteY3" fmla="*/ 0 h 7227688"/>
              <a:gd name="connsiteX4" fmla="*/ 5094485 w 5094484"/>
              <a:gd name="connsiteY4" fmla="*/ 7204888 h 722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4484" h="7227688">
                <a:moveTo>
                  <a:pt x="5094485" y="7204888"/>
                </a:moveTo>
                <a:cubicBezTo>
                  <a:pt x="5094485" y="7204888"/>
                  <a:pt x="0" y="7256188"/>
                  <a:pt x="0" y="7204888"/>
                </a:cubicBezTo>
                <a:cubicBezTo>
                  <a:pt x="0" y="7153588"/>
                  <a:pt x="0" y="0"/>
                  <a:pt x="0" y="0"/>
                </a:cubicBezTo>
                <a:lnTo>
                  <a:pt x="5094485" y="0"/>
                </a:lnTo>
                <a:lnTo>
                  <a:pt x="5094485" y="7204888"/>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7" name="任意多边形: 形状 49"/>
          <p:cNvSpPr/>
          <p:nvPr>
            <p:custDataLst>
              <p:tags r:id="rId15"/>
            </p:custDataLst>
          </p:nvPr>
        </p:nvSpPr>
        <p:spPr>
          <a:xfrm>
            <a:off x="4436492" y="703866"/>
            <a:ext cx="263571" cy="4432441"/>
          </a:xfrm>
          <a:custGeom>
            <a:avLst/>
            <a:gdLst>
              <a:gd name="connsiteX0" fmla="*/ 0 w 324373"/>
              <a:gd name="connsiteY0" fmla="*/ 0 h 7222250"/>
              <a:gd name="connsiteX1" fmla="*/ 0 w 324373"/>
              <a:gd name="connsiteY1" fmla="*/ 7222251 h 7222250"/>
              <a:gd name="connsiteX2" fmla="*/ 324374 w 324373"/>
              <a:gd name="connsiteY2" fmla="*/ 7204888 h 7222250"/>
              <a:gd name="connsiteX3" fmla="*/ 324374 w 324373"/>
              <a:gd name="connsiteY3" fmla="*/ 0 h 7222250"/>
              <a:gd name="connsiteX4" fmla="*/ 0 w 324373"/>
              <a:gd name="connsiteY4" fmla="*/ 0 h 7222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373" h="7222249">
                <a:moveTo>
                  <a:pt x="0" y="0"/>
                </a:moveTo>
                <a:lnTo>
                  <a:pt x="0" y="7222251"/>
                </a:lnTo>
                <a:cubicBezTo>
                  <a:pt x="203621" y="7218305"/>
                  <a:pt x="324374" y="7212781"/>
                  <a:pt x="324374" y="7204888"/>
                </a:cubicBezTo>
                <a:cubicBezTo>
                  <a:pt x="324374" y="7153588"/>
                  <a:pt x="324374" y="0"/>
                  <a:pt x="324374" y="0"/>
                </a:cubicBezTo>
                <a:lnTo>
                  <a:pt x="0" y="0"/>
                </a:lnTo>
                <a:close/>
              </a:path>
            </a:pathLst>
          </a:custGeom>
          <a:solidFill>
            <a:srgbClr val="FFFFFF"/>
          </a:solidFill>
          <a:ln w="7891" cap="flat">
            <a:noFill/>
            <a:prstDash val="solid"/>
            <a:miter/>
          </a:ln>
        </p:spPr>
        <p:txBody>
          <a:bodyPr rtlCol="0" anchor="ctr"/>
          <a:lstStyle>
            <a:defPPr>
              <a:defRPr lang="zh-CN"/>
            </a:defPPr>
            <a:lvl1pPr marL="0" algn="l" defTabSz="914400" rtl="0" eaLnBrk="1" fontAlgn="base" latinLnBrk="0" hangingPunct="1">
              <a:spcBef>
                <a:spcPct val="0"/>
              </a:spcBef>
              <a:spcAft>
                <a:spcPct val="0"/>
              </a:spcAft>
              <a:defRPr sz="1800" kern="1200">
                <a:solidFill>
                  <a:schemeClr val="tx1"/>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76" name="组合 75"/>
          <p:cNvGrpSpPr/>
          <p:nvPr>
            <p:custDataLst>
              <p:tags r:id="rId16"/>
            </p:custDataLst>
          </p:nvPr>
        </p:nvGrpSpPr>
        <p:grpSpPr>
          <a:xfrm>
            <a:off x="4020412" y="703866"/>
            <a:ext cx="1631321" cy="4432566"/>
            <a:chOff x="5315409" y="949008"/>
            <a:chExt cx="2236010" cy="7084649"/>
          </a:xfrm>
        </p:grpSpPr>
        <p:sp>
          <p:nvSpPr>
            <p:cNvPr id="77" name="矩形 76"/>
            <p:cNvSpPr/>
            <p:nvPr>
              <p:custDataLst>
                <p:tags r:id="rId17"/>
              </p:custDataLst>
            </p:nvPr>
          </p:nvSpPr>
          <p:spPr>
            <a:xfrm>
              <a:off x="6110718" y="949008"/>
              <a:ext cx="1440701" cy="7084649"/>
            </a:xfrm>
            <a:prstGeom prst="rect">
              <a:avLst/>
            </a:prstGeom>
            <a:gradFill flip="none" rotWithShape="1">
              <a:gsLst>
                <a:gs pos="12000">
                  <a:srgbClr val="000000">
                    <a:lumMod val="50000"/>
                    <a:lumOff val="50000"/>
                    <a:alpha val="0"/>
                  </a:srgbClr>
                </a:gs>
                <a:gs pos="100000">
                  <a:srgbClr val="000000">
                    <a:lumMod val="85000"/>
                    <a:lumOff val="15000"/>
                    <a:alpha val="10000"/>
                  </a:srgbClr>
                </a:gs>
              </a:gsLst>
              <a:lin ang="10800000" scaled="1"/>
            </a:gradFill>
            <a:ln>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78" name="矩形 77"/>
            <p:cNvSpPr/>
            <p:nvPr>
              <p:custDataLst>
                <p:tags r:id="rId18"/>
              </p:custDataLst>
            </p:nvPr>
          </p:nvSpPr>
          <p:spPr>
            <a:xfrm>
              <a:off x="5315409" y="949008"/>
              <a:ext cx="806124" cy="7084649"/>
            </a:xfrm>
            <a:prstGeom prst="rect">
              <a:avLst/>
            </a:prstGeom>
            <a:gradFill flip="none" rotWithShape="1">
              <a:gsLst>
                <a:gs pos="12000">
                  <a:srgbClr val="000000">
                    <a:lumMod val="50000"/>
                    <a:lumOff val="50000"/>
                    <a:alpha val="0"/>
                  </a:srgbClr>
                </a:gs>
                <a:gs pos="100000">
                  <a:srgbClr val="000000">
                    <a:lumMod val="85000"/>
                    <a:lumOff val="15000"/>
                    <a:alpha val="10000"/>
                  </a:srgbClr>
                </a:gs>
              </a:gsLst>
              <a:lin ang="0" scaled="1"/>
            </a:gradFill>
            <a:ln>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684530" rtl="0" eaLnBrk="1" fontAlgn="auto" latinLnBrk="0" hangingPunct="1">
                <a:lnSpc>
                  <a:spcPct val="100000"/>
                </a:lnSpc>
                <a:spcBef>
                  <a:spcPct val="0"/>
                </a:spcBef>
                <a:spcAft>
                  <a:spcPct val="0"/>
                </a:spcAft>
                <a:buClrTx/>
                <a:buSzTx/>
                <a:buFontTx/>
                <a:buNone/>
                <a:defRPr/>
              </a:pPr>
              <a:endParaRPr kumimoji="0" lang="zh-CN" altLang="en-US" sz="134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sp>
        <p:nvSpPr>
          <p:cNvPr id="88" name="文本框 87"/>
          <p:cNvSpPr txBox="1"/>
          <p:nvPr>
            <p:custDataLst>
              <p:tags r:id="rId19"/>
            </p:custDataLst>
          </p:nvPr>
        </p:nvSpPr>
        <p:spPr>
          <a:xfrm>
            <a:off x="1261732" y="1032075"/>
            <a:ext cx="2397760" cy="450850"/>
          </a:xfrm>
          <a:prstGeom prst="rect">
            <a:avLst/>
          </a:prstGeom>
          <a:noFill/>
        </p:spPr>
        <p:txBody>
          <a:bodyPr wrap="none">
            <a:spAutoFit/>
          </a:bodyPr>
          <a:lstStyle/>
          <a:p>
            <a:pPr algn="l" defTabSz="1168400">
              <a:lnSpc>
                <a:spcPct val="130000"/>
              </a:lnSpc>
            </a:pPr>
            <a:r>
              <a:rPr lang="en-US" altLang="zh-CN" b="1" dirty="0"/>
              <a:t>3,</a:t>
            </a:r>
            <a:r>
              <a:rPr lang="en-US" altLang="zh-CN" b="1" dirty="0">
                <a:sym typeface="思源黑体 CN Bold" panose="020B0800000000000000" pitchFamily="34" charset="-122"/>
              </a:rPr>
              <a:t>成长导航与使命担当</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503050405090304" charset="0"/>
              <a:sym typeface="思源黑体 CN Bold" panose="020B0800000000000000" pitchFamily="34" charset="-122"/>
            </a:endParaRPr>
          </a:p>
        </p:txBody>
      </p:sp>
      <p:sp>
        <p:nvSpPr>
          <p:cNvPr id="99" name="文本框 98"/>
          <p:cNvSpPr txBox="1"/>
          <p:nvPr>
            <p:custDataLst>
              <p:tags r:id="rId20"/>
            </p:custDataLst>
          </p:nvPr>
        </p:nvSpPr>
        <p:spPr>
          <a:xfrm>
            <a:off x="1037062" y="1628061"/>
            <a:ext cx="3386155" cy="1706880"/>
          </a:xfrm>
          <a:prstGeom prst="rect">
            <a:avLst/>
          </a:prstGeom>
          <a:noFill/>
        </p:spPr>
        <p:txBody>
          <a:bodyPr wrap="square">
            <a:spAutoFit/>
          </a:bodyPr>
          <a:lstStyle/>
          <a:p>
            <a:pPr defTabSz="1168400">
              <a:lnSpc>
                <a:spcPct val="150000"/>
              </a:lnSpc>
            </a:pPr>
            <a:r>
              <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rPr>
              <a:t>明确时代责任：党章所描绘的实现中华民族伟大复兴的中国梦蓝图，召唤着研究生群体。它促使研究生思考个人所学如何服务于国家战略需求，如何将论文写在祖国的大地上，从而激发使命感和责任感。</a:t>
            </a:r>
            <a:endParaRPr lang="zh-CN" altLang="en-US" sz="1400" dirty="0">
              <a:solidFill>
                <a:srgbClr val="000000">
                  <a:lumMod val="100000"/>
                </a:srgbClr>
              </a:solidFill>
              <a:latin typeface="微软雅黑" panose="020B0503020204020204" pitchFamily="34" charset="-122"/>
              <a:ea typeface="微软雅黑" panose="020B0503020204020204" pitchFamily="34" charset="-122"/>
              <a:cs typeface="Times New Roman" panose="02020503050405090304" charset="0"/>
              <a:sym typeface="思源黑体 CN Regular" panose="020B0500000000000000" charset="-122"/>
            </a:endParaRPr>
          </a:p>
        </p:txBody>
      </p:sp>
      <p:grpSp>
        <p:nvGrpSpPr>
          <p:cNvPr id="105" name="组合 104"/>
          <p:cNvGrpSpPr/>
          <p:nvPr>
            <p:custDataLst>
              <p:tags r:id="rId21"/>
            </p:custDataLst>
          </p:nvPr>
        </p:nvGrpSpPr>
        <p:grpSpPr>
          <a:xfrm>
            <a:off x="864504" y="1771760"/>
            <a:ext cx="131686" cy="131686"/>
            <a:chOff x="4079253" y="3794228"/>
            <a:chExt cx="131686" cy="131686"/>
          </a:xfrm>
        </p:grpSpPr>
        <p:sp>
          <p:nvSpPr>
            <p:cNvPr id="106" name="矩形: 圆角 72"/>
            <p:cNvSpPr/>
            <p:nvPr>
              <p:custDataLst>
                <p:tags r:id="rId22"/>
              </p:custDataLst>
            </p:nvPr>
          </p:nvSpPr>
          <p:spPr>
            <a:xfrm>
              <a:off x="4079253" y="3794228"/>
              <a:ext cx="131686" cy="131686"/>
            </a:xfrm>
            <a:prstGeom prst="roundRect">
              <a:avLst/>
            </a:prstGeom>
            <a:solidFill>
              <a:srgbClr val="C7ABDB">
                <a:alpha val="25000"/>
              </a:srgbClr>
            </a:solidFill>
            <a:ln w="635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sp>
          <p:nvSpPr>
            <p:cNvPr id="107" name="矩形: 圆角 73"/>
            <p:cNvSpPr/>
            <p:nvPr>
              <p:custDataLst>
                <p:tags r:id="rId23"/>
              </p:custDataLst>
            </p:nvPr>
          </p:nvSpPr>
          <p:spPr>
            <a:xfrm>
              <a:off x="4103065" y="3818040"/>
              <a:ext cx="84062" cy="84062"/>
            </a:xfrm>
            <a:prstGeom prst="roundRect">
              <a:avLst/>
            </a:prstGeom>
            <a:solidFill>
              <a:srgbClr val="7030A0"/>
            </a:solidFill>
            <a:ln w="38100">
              <a:noFill/>
            </a:ln>
            <a:effectLst/>
          </p:spPr>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Wingdings" panose="05000000000000000000"/>
              </a:endParaRPr>
            </a:p>
          </p:txBody>
        </p:sp>
      </p:grpSp>
      <p:grpSp>
        <p:nvGrpSpPr>
          <p:cNvPr id="137" name="组合 136"/>
          <p:cNvGrpSpPr/>
          <p:nvPr>
            <p:custDataLst>
              <p:tags r:id="rId24"/>
            </p:custDataLst>
          </p:nvPr>
        </p:nvGrpSpPr>
        <p:grpSpPr>
          <a:xfrm>
            <a:off x="873088" y="1134494"/>
            <a:ext cx="277178" cy="282237"/>
            <a:chOff x="2662744" y="876425"/>
            <a:chExt cx="369570" cy="376316"/>
          </a:xfrm>
          <a:solidFill>
            <a:srgbClr val="7030A0"/>
          </a:solidFill>
        </p:grpSpPr>
        <p:sp>
          <p:nvSpPr>
            <p:cNvPr id="147" name="箭头: V 形 27"/>
            <p:cNvSpPr/>
            <p:nvPr>
              <p:custDataLst>
                <p:tags r:id="rId25"/>
              </p:custDataLst>
            </p:nvPr>
          </p:nvSpPr>
          <p:spPr>
            <a:xfrm>
              <a:off x="2662744" y="876425"/>
              <a:ext cx="369570" cy="376316"/>
            </a:xfrm>
            <a:prstGeom prst="chevron">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black"/>
                </a:solidFill>
                <a:latin typeface="OPPOSans R" panose="00020600040101010101" charset="-122"/>
                <a:ea typeface="OPPOSans R" panose="00020600040101010101" charset="-122"/>
              </a:endParaRPr>
            </a:p>
          </p:txBody>
        </p:sp>
        <p:sp>
          <p:nvSpPr>
            <p:cNvPr id="164" name="等腰三角形 163"/>
            <p:cNvSpPr/>
            <p:nvPr>
              <p:custDataLst>
                <p:tags r:id="rId26"/>
              </p:custDataLst>
            </p:nvPr>
          </p:nvSpPr>
          <p:spPr>
            <a:xfrm rot="5400000">
              <a:off x="2652679" y="1026923"/>
              <a:ext cx="99278" cy="75320"/>
            </a:xfrm>
            <a:prstGeom prst="triangle">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white"/>
                </a:solidFill>
                <a:latin typeface="OPPOSans R" panose="00020600040101010101" charset="-122"/>
                <a:ea typeface="OPPOSans R" panose="00020600040101010101" charset="-122"/>
              </a:endParaRPr>
            </a:p>
          </p:txBody>
        </p:sp>
      </p:grpSp>
      <p:pic>
        <p:nvPicPr>
          <p:cNvPr id="7" name="图片 6"/>
          <p:cNvPicPr/>
          <p:nvPr/>
        </p:nvPicPr>
        <p:blipFill>
          <a:blip r:embed="rId27"/>
          <a:stretch>
            <a:fillRect/>
          </a:stretch>
        </p:blipFill>
        <p:spPr>
          <a:xfrm>
            <a:off x="5027930" y="1031240"/>
            <a:ext cx="3303905" cy="23037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1258962" y="1566794"/>
            <a:ext cx="756000" cy="3810"/>
          </a:xfrm>
          <a:prstGeom prst="line">
            <a:avLst/>
          </a:prstGeom>
          <a:ln w="12700">
            <a:solidFill>
              <a:srgbClr val="3F8EE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2"/>
            </p:custDataLst>
          </p:nvPr>
        </p:nvCxnSpPr>
        <p:spPr>
          <a:xfrm>
            <a:off x="1262772" y="2640041"/>
            <a:ext cx="756000" cy="3810"/>
          </a:xfrm>
          <a:prstGeom prst="line">
            <a:avLst/>
          </a:prstGeom>
          <a:ln w="12700">
            <a:solidFill>
              <a:srgbClr val="7030A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圆角矩形 2"/>
          <p:cNvSpPr/>
          <p:nvPr>
            <p:custDataLst>
              <p:tags r:id="rId3"/>
            </p:custDataLst>
          </p:nvPr>
        </p:nvSpPr>
        <p:spPr>
          <a:xfrm>
            <a:off x="745379" y="1391560"/>
            <a:ext cx="983042" cy="349543"/>
          </a:xfrm>
          <a:prstGeom prst="roundRect">
            <a:avLst/>
          </a:prstGeom>
          <a:solidFill>
            <a:srgbClr val="3F8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latin typeface="微软雅黑" panose="020B0503020204020204" pitchFamily="34" charset="-122"/>
              <a:ea typeface="微软雅黑" panose="020B0503020204020204" pitchFamily="34" charset="-122"/>
            </a:endParaRPr>
          </a:p>
        </p:txBody>
      </p:sp>
      <p:sp>
        <p:nvSpPr>
          <p:cNvPr id="33" name="圆角矩形 32"/>
          <p:cNvSpPr/>
          <p:nvPr>
            <p:custDataLst>
              <p:tags r:id="rId4"/>
            </p:custDataLst>
          </p:nvPr>
        </p:nvSpPr>
        <p:spPr>
          <a:xfrm>
            <a:off x="749189" y="2474836"/>
            <a:ext cx="983042" cy="349543"/>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latin typeface="微软雅黑" panose="020B0503020204020204" pitchFamily="34" charset="-122"/>
              <a:ea typeface="微软雅黑" panose="020B0503020204020204" pitchFamily="34" charset="-122"/>
            </a:endParaRPr>
          </a:p>
        </p:txBody>
      </p:sp>
      <p:sp>
        <p:nvSpPr>
          <p:cNvPr id="108" name="TextBox 107"/>
          <p:cNvSpPr txBox="1"/>
          <p:nvPr>
            <p:custDataLst>
              <p:tags r:id="rId5"/>
            </p:custDataLst>
          </p:nvPr>
        </p:nvSpPr>
        <p:spPr>
          <a:xfrm>
            <a:off x="994747" y="1369823"/>
            <a:ext cx="791528" cy="400110"/>
          </a:xfrm>
          <a:prstGeom prst="rect">
            <a:avLst/>
          </a:prstGeom>
          <a:noFill/>
        </p:spPr>
        <p:txBody>
          <a:bodyPr wrap="square" rtlCol="0">
            <a:spAutoFit/>
          </a:bodyPr>
          <a:lstStyle/>
          <a:p>
            <a:r>
              <a:rPr lang="en-US" sz="20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01</a:t>
            </a:r>
            <a:r>
              <a:rPr lang="en-US" sz="1600"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  </a:t>
            </a:r>
            <a:endParaRPr lang="en-US" sz="800" dirty="0" err="1">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endParaRPr>
          </a:p>
        </p:txBody>
      </p:sp>
      <p:sp>
        <p:nvSpPr>
          <p:cNvPr id="116" name="TextBox 115"/>
          <p:cNvSpPr txBox="1"/>
          <p:nvPr>
            <p:custDataLst>
              <p:tags r:id="rId6"/>
            </p:custDataLst>
          </p:nvPr>
        </p:nvSpPr>
        <p:spPr>
          <a:xfrm>
            <a:off x="998557" y="2453595"/>
            <a:ext cx="851535" cy="400110"/>
          </a:xfrm>
          <a:prstGeom prst="rect">
            <a:avLst/>
          </a:prstGeom>
          <a:noFill/>
        </p:spPr>
        <p:txBody>
          <a:bodyPr wrap="square" rtlCol="0">
            <a:spAutoFit/>
          </a:bodyPr>
          <a:lstStyle/>
          <a:p>
            <a:r>
              <a:rPr lang="en-US" sz="20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02</a:t>
            </a:r>
            <a:r>
              <a:rPr lang="en-US" sz="16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 </a:t>
            </a:r>
            <a:endParaRPr lang="en-US" sz="8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endParaRPr>
          </a:p>
        </p:txBody>
      </p:sp>
      <p:sp>
        <p:nvSpPr>
          <p:cNvPr id="9" name="文本框 8"/>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rPr>
              <a:t>党史对研究生的参考作用</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14" name="TextBox 40"/>
          <p:cNvSpPr txBox="1"/>
          <p:nvPr>
            <p:custDataLst>
              <p:tags r:id="rId7"/>
            </p:custDataLst>
          </p:nvPr>
        </p:nvSpPr>
        <p:spPr>
          <a:xfrm>
            <a:off x="2298065" y="1246505"/>
            <a:ext cx="6066790" cy="1082675"/>
          </a:xfrm>
          <a:prstGeom prst="rect">
            <a:avLst/>
          </a:prstGeom>
          <a:noFill/>
        </p:spPr>
        <p:txBody>
          <a:bodyPr wrap="square" lIns="0" tIns="0" rIns="0" bIns="0" rtlCol="0">
            <a:noAutofit/>
          </a:bodyPr>
          <a:lstStyle/>
          <a:p>
            <a:pPr>
              <a:lnSpc>
                <a:spcPct val="150000"/>
              </a:lnSpc>
            </a:pPr>
            <a:r>
              <a:rPr lang="zh-CN" altLang="en-US" sz="1400" dirty="0">
                <a:latin typeface="微软雅黑" panose="020B0503020204020204" pitchFamily="34" charset="-122"/>
                <a:ea typeface="微软雅黑" panose="020B0503020204020204" pitchFamily="34" charset="-122"/>
              </a:rPr>
              <a:t>坚定理想信念的精神源泉</a:t>
            </a:r>
            <a:endParaRPr lang="zh-CN" altLang="en-US" sz="1400" dirty="0">
              <a:latin typeface="微软雅黑" panose="020B0503020204020204" pitchFamily="34" charset="-122"/>
              <a:ea typeface="微软雅黑" panose="020B0503020204020204" pitchFamily="34" charset="-122"/>
            </a:endParaRPr>
          </a:p>
          <a:p>
            <a:pPr>
              <a:lnSpc>
                <a:spcPct val="150000"/>
              </a:lnSpc>
            </a:pPr>
            <a:r>
              <a:rPr lang="zh-CN" altLang="en-US" sz="1000" dirty="0">
                <a:latin typeface="微软雅黑" panose="020B0503020204020204" pitchFamily="34" charset="-122"/>
                <a:ea typeface="微软雅黑" panose="020B0503020204020204" pitchFamily="34" charset="-122"/>
              </a:rPr>
              <a:t>党史是一部理想信念的生动教材。从井冈山的星火、长征的奇迹、延安的窑洞，到新中国的成立、改革开放的伟大转折、新时代的历史性变革，一代代共产党人靠着坚如磐石的信仰，战胜了千难万险。学习党史有助于研究生汲取信仰之力</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传承红色基因</a:t>
            </a:r>
            <a:r>
              <a:rPr lang="en-US" altLang="zh-CN" sz="1000" dirty="0">
                <a:latin typeface="微软雅黑" panose="020B0503020204020204" pitchFamily="34" charset="-122"/>
                <a:ea typeface="微软雅黑" panose="020B0503020204020204" pitchFamily="34" charset="-122"/>
              </a:rPr>
              <a:t>。</a:t>
            </a:r>
            <a:endParaRPr lang="en-US" altLang="zh-CN" sz="1000" dirty="0">
              <a:latin typeface="微软雅黑" panose="020B0503020204020204" pitchFamily="34" charset="-122"/>
              <a:ea typeface="微软雅黑" panose="020B0503020204020204" pitchFamily="34" charset="-122"/>
            </a:endParaRPr>
          </a:p>
        </p:txBody>
      </p:sp>
      <p:pic>
        <p:nvPicPr>
          <p:cNvPr id="41" name="图片 40"/>
          <p:cNvPicPr>
            <a:picLocks noChangeAspect="1"/>
          </p:cNvPicPr>
          <p:nvPr/>
        </p:nvPicPr>
        <p:blipFill rotWithShape="1">
          <a:blip r:embed="rId8" cstate="print"/>
          <a:srcRect/>
          <a:stretch>
            <a:fillRect/>
          </a:stretch>
        </p:blipFill>
        <p:spPr>
          <a:xfrm>
            <a:off x="7517820" y="0"/>
            <a:ext cx="1504950" cy="703866"/>
          </a:xfrm>
          <a:prstGeom prst="rect">
            <a:avLst/>
          </a:prstGeom>
        </p:spPr>
      </p:pic>
      <p:sp>
        <p:nvSpPr>
          <p:cNvPr id="42" name="TextBox 40"/>
          <p:cNvSpPr txBox="1"/>
          <p:nvPr>
            <p:custDataLst>
              <p:tags r:id="rId9"/>
            </p:custDataLst>
          </p:nvPr>
        </p:nvSpPr>
        <p:spPr>
          <a:xfrm>
            <a:off x="2298700" y="2329815"/>
            <a:ext cx="6066155" cy="1082675"/>
          </a:xfrm>
          <a:prstGeom prst="rect">
            <a:avLst/>
          </a:prstGeom>
          <a:noFill/>
        </p:spPr>
        <p:txBody>
          <a:bodyPr wrap="square" lIns="0" tIns="0" rIns="0" bIns="0" rtlCol="0">
            <a:noAutofit/>
          </a:bodyPr>
          <a:lstStyle>
            <a:defPPr>
              <a:defRPr lang="en-US"/>
            </a:defPPr>
            <a:lvl1pPr>
              <a:lnSpc>
                <a:spcPct val="150000"/>
              </a:lnSpc>
              <a:defRPr sz="1400">
                <a:latin typeface="微软雅黑" panose="020B0503020204020204" pitchFamily="34" charset="-122"/>
                <a:ea typeface="微软雅黑" panose="020B0503020204020204" pitchFamily="34" charset="-122"/>
              </a:defRPr>
            </a:lvl1pPr>
          </a:lstStyle>
          <a:p>
            <a:r>
              <a:rPr lang="zh-CN" altLang="en-US" dirty="0"/>
              <a:t>把握历史规律的智慧宝库</a:t>
            </a:r>
            <a:endParaRPr lang="zh-CN" altLang="en-US" dirty="0"/>
          </a:p>
          <a:p>
            <a:r>
              <a:rPr lang="zh-CN" altLang="en-US" sz="1000" dirty="0"/>
              <a:t>党史揭示了中国共产党执政规律、社会主义建设规律和人类社会发展规律。通过学习党史，研究生可以深刻认识到中国特色社会主义道路是当代中国发展进步的根本方向。这有助于增强判断力、领悟力、执行力</a:t>
            </a:r>
            <a:r>
              <a:rPr lang="en-US" altLang="zh-CN" sz="1000" dirty="0"/>
              <a:t>，</a:t>
            </a:r>
            <a:r>
              <a:rPr lang="zh-CN" altLang="en-US" sz="1000" dirty="0"/>
              <a:t>学会用历史唯物主义的观点、方法分析和解决问题，在面对科研难题，增强工作的系统性、预见性、创造性</a:t>
            </a:r>
            <a:r>
              <a:rPr lang="en-US" altLang="zh-CN" sz="1000" dirty="0"/>
              <a:t>。</a:t>
            </a:r>
            <a:endParaRPr lang="en-US" altLang="zh-CN" sz="1000" dirty="0"/>
          </a:p>
        </p:txBody>
      </p:sp>
      <p:cxnSp>
        <p:nvCxnSpPr>
          <p:cNvPr id="45" name="直接连接符 44"/>
          <p:cNvCxnSpPr/>
          <p:nvPr>
            <p:custDataLst>
              <p:tags r:id="rId10"/>
            </p:custDataLst>
          </p:nvPr>
        </p:nvCxnSpPr>
        <p:spPr>
          <a:xfrm>
            <a:off x="1258581" y="3759275"/>
            <a:ext cx="756000" cy="3810"/>
          </a:xfrm>
          <a:prstGeom prst="line">
            <a:avLst/>
          </a:prstGeom>
          <a:ln w="12700">
            <a:solidFill>
              <a:srgbClr val="3F8EE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7" name="圆角矩形 46"/>
          <p:cNvSpPr/>
          <p:nvPr>
            <p:custDataLst>
              <p:tags r:id="rId11"/>
            </p:custDataLst>
          </p:nvPr>
        </p:nvSpPr>
        <p:spPr>
          <a:xfrm>
            <a:off x="744998" y="3584041"/>
            <a:ext cx="983042" cy="349543"/>
          </a:xfrm>
          <a:prstGeom prst="roundRect">
            <a:avLst/>
          </a:prstGeom>
          <a:solidFill>
            <a:srgbClr val="3F8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latin typeface="微软雅黑" panose="020B0503020204020204" pitchFamily="34" charset="-122"/>
              <a:ea typeface="微软雅黑" panose="020B0503020204020204" pitchFamily="34" charset="-122"/>
            </a:endParaRPr>
          </a:p>
        </p:txBody>
      </p:sp>
      <p:sp>
        <p:nvSpPr>
          <p:cNvPr id="49" name="TextBox 107"/>
          <p:cNvSpPr txBox="1"/>
          <p:nvPr>
            <p:custDataLst>
              <p:tags r:id="rId12"/>
            </p:custDataLst>
          </p:nvPr>
        </p:nvSpPr>
        <p:spPr>
          <a:xfrm>
            <a:off x="994366" y="3562304"/>
            <a:ext cx="791528" cy="400110"/>
          </a:xfrm>
          <a:prstGeom prst="rect">
            <a:avLst/>
          </a:prstGeom>
          <a:noFill/>
        </p:spPr>
        <p:txBody>
          <a:bodyPr wrap="square" rtlCol="0">
            <a:spAutoFit/>
          </a:bodyPr>
          <a:lstStyle/>
          <a:p>
            <a:r>
              <a:rPr lang="en-US" sz="20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03</a:t>
            </a:r>
            <a:r>
              <a:rPr lang="en-US" sz="16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rPr>
              <a:t>  </a:t>
            </a:r>
            <a:endParaRPr lang="en-US" sz="800" b="1" dirty="0">
              <a:solidFill>
                <a:schemeClr val="bg1"/>
              </a:solidFill>
              <a:latin typeface="微软雅黑" panose="020B0503020204020204" pitchFamily="34" charset="-122"/>
              <a:ea typeface="微软雅黑" panose="020B0503020204020204" pitchFamily="34" charset="-122"/>
              <a:sym typeface="微软雅黑 Light" panose="020B0502040204020203" pitchFamily="34" charset="-122"/>
            </a:endParaRPr>
          </a:p>
        </p:txBody>
      </p:sp>
      <p:sp>
        <p:nvSpPr>
          <p:cNvPr id="51" name="TextBox 40"/>
          <p:cNvSpPr txBox="1"/>
          <p:nvPr>
            <p:custDataLst>
              <p:tags r:id="rId13"/>
            </p:custDataLst>
          </p:nvPr>
        </p:nvSpPr>
        <p:spPr>
          <a:xfrm>
            <a:off x="2298065" y="3438525"/>
            <a:ext cx="6066155" cy="1082675"/>
          </a:xfrm>
          <a:prstGeom prst="rect">
            <a:avLst/>
          </a:prstGeom>
          <a:noFill/>
        </p:spPr>
        <p:txBody>
          <a:bodyPr wrap="square" lIns="0" tIns="0" rIns="0" bIns="0" rtlCol="0">
            <a:noAutofit/>
          </a:bodyPr>
          <a:lstStyle>
            <a:defPPr>
              <a:defRPr lang="en-US"/>
            </a:defPPr>
            <a:lvl1pPr>
              <a:lnSpc>
                <a:spcPct val="150000"/>
              </a:lnSpc>
              <a:defRPr sz="1400">
                <a:latin typeface="微软雅黑" panose="020B0503020204020204" pitchFamily="34" charset="-122"/>
                <a:ea typeface="微软雅黑" panose="020B0503020204020204" pitchFamily="34" charset="-122"/>
              </a:defRPr>
            </a:lvl1pPr>
          </a:lstStyle>
          <a:p>
            <a:r>
              <a:rPr lang="zh-CN" altLang="en-US" dirty="0"/>
              <a:t>践行初心使命的行动指南</a:t>
            </a:r>
            <a:endParaRPr lang="zh-CN" altLang="en-US" dirty="0"/>
          </a:p>
          <a:p>
            <a:r>
              <a:rPr lang="zh-CN" altLang="en-US" sz="1000" dirty="0"/>
              <a:t>学习党史，能深刻体会中国共产党始终</a:t>
            </a:r>
            <a:r>
              <a:rPr lang="en-US" altLang="zh-CN" sz="1000" dirty="0"/>
              <a:t>“</a:t>
            </a:r>
            <a:r>
              <a:rPr lang="zh-CN" altLang="en-US" sz="1000" dirty="0"/>
              <a:t>为了人民、依靠人民</a:t>
            </a:r>
            <a:r>
              <a:rPr lang="en-US" altLang="zh-CN" sz="1000" dirty="0"/>
              <a:t>”</a:t>
            </a:r>
            <a:r>
              <a:rPr lang="zh-CN" altLang="en-US" sz="1000" dirty="0"/>
              <a:t>的根本立场。这有助于研究生树立</a:t>
            </a:r>
            <a:r>
              <a:rPr lang="en-US" altLang="zh-CN" sz="1000" dirty="0"/>
              <a:t>“</a:t>
            </a:r>
            <a:r>
              <a:rPr lang="zh-CN" altLang="en-US" sz="1000" dirty="0"/>
              <a:t>为人民服务</a:t>
            </a:r>
            <a:r>
              <a:rPr lang="en-US" altLang="zh-CN" sz="1000" dirty="0"/>
              <a:t>”</a:t>
            </a:r>
            <a:r>
              <a:rPr lang="zh-CN" altLang="en-US" sz="1000" dirty="0"/>
              <a:t>的学术价值取向，思考其研究成果如何惠及人民，如何增进民生福祉，从而将个人学术追求与人民福祉紧密相连。</a:t>
            </a:r>
            <a:endParaRPr lang="zh-CN" altLang="en-US" sz="1000" dirty="0"/>
          </a:p>
        </p:txBody>
      </p:sp>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rotWithShape="1">
          <a:blip r:embed="rId2"/>
          <a:srcRect l="17245" r="17245" b="22506"/>
          <a:stretch>
            <a:fillRect/>
          </a:stretch>
        </p:blipFill>
        <p:spPr>
          <a:xfrm>
            <a:off x="-6927" y="2203611"/>
            <a:ext cx="9157854" cy="2943353"/>
          </a:xfrm>
          <a:prstGeom prst="rect">
            <a:avLst/>
          </a:prstGeom>
        </p:spPr>
      </p:pic>
      <p:sp>
        <p:nvSpPr>
          <p:cNvPr id="10" name="文本框 9"/>
          <p:cNvSpPr txBox="1"/>
          <p:nvPr/>
        </p:nvSpPr>
        <p:spPr>
          <a:xfrm>
            <a:off x="322117" y="3858"/>
            <a:ext cx="6452755" cy="718820"/>
          </a:xfrm>
          <a:prstGeom prst="rect">
            <a:avLst/>
          </a:prstGeom>
          <a:noFill/>
        </p:spPr>
        <p:txBody>
          <a:bodyPr wrap="square">
            <a:spAutoFit/>
          </a:bodyPr>
          <a:lstStyle/>
          <a:p>
            <a:pPr>
              <a:lnSpc>
                <a:spcPct val="170000"/>
              </a:lnSpc>
            </a:pPr>
            <a:r>
              <a:rPr lang="zh-CN" altLang="en-US" sz="2400" b="1" dirty="0">
                <a:solidFill>
                  <a:srgbClr val="7030A0"/>
                </a:solidFill>
                <a:latin typeface="微软雅黑" panose="020B0503020204020204" pitchFamily="34" charset="-122"/>
                <a:ea typeface="微软雅黑" panose="020B0503020204020204" pitchFamily="34" charset="-122"/>
              </a:rPr>
              <a:t>学习《中国共产党思想政治工作条例》</a:t>
            </a:r>
            <a:endParaRPr lang="zh-CN" altLang="en-US">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3" cstate="print"/>
          <a:srcRect/>
          <a:stretch>
            <a:fillRect/>
          </a:stretch>
        </p:blipFill>
        <p:spPr>
          <a:xfrm>
            <a:off x="7517820" y="0"/>
            <a:ext cx="1504950" cy="703866"/>
          </a:xfrm>
          <a:prstGeom prst="rect">
            <a:avLst/>
          </a:prstGeom>
        </p:spPr>
      </p:pic>
      <p:sp>
        <p:nvSpPr>
          <p:cNvPr id="22" name="矩形 21"/>
          <p:cNvSpPr/>
          <p:nvPr>
            <p:custDataLst>
              <p:tags r:id="rId4"/>
            </p:custDataLst>
          </p:nvPr>
        </p:nvSpPr>
        <p:spPr>
          <a:xfrm>
            <a:off x="903190" y="1191392"/>
            <a:ext cx="3769673" cy="993497"/>
          </a:xfrm>
          <a:prstGeom prst="rect">
            <a:avLst/>
          </a:prstGeom>
          <a:gradFill>
            <a:gsLst>
              <a:gs pos="61000">
                <a:srgbClr val="FFFFFF"/>
              </a:gs>
              <a:gs pos="100000">
                <a:schemeClr val="bg1">
                  <a:alpha val="0"/>
                </a:schemeClr>
              </a:gs>
              <a:gs pos="0">
                <a:schemeClr val="bg1"/>
              </a:gs>
            </a:gsLst>
            <a:lin ang="0" scaled="0"/>
          </a:gradFill>
          <a:ln>
            <a:noFill/>
          </a:ln>
          <a:effectLst>
            <a:outerShdw blurRad="190500" dist="127000" dir="2700000" algn="tl" rotWithShape="0">
              <a:srgbClr val="C7ABDB">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等线" panose="02010600030101010101" charset="-122"/>
                <a:ea typeface="Arial" panose="020B0604020202090204" pitchFamily="34" charset="0"/>
                <a:cs typeface="Arial" panose="020B0604020202090204" pitchFamily="34" charset="0"/>
                <a:sym typeface="Wingdings" panose="05000000000000000000"/>
              </a:defRPr>
            </a:lvl9pPr>
          </a:lstStyle>
          <a:p>
            <a:pPr algn="ctr" defTabSz="685800"/>
            <a:endParaRPr lang="zh-CN" altLang="en-US" sz="1350" dirty="0">
              <a:solidFill>
                <a:prstClr val="white"/>
              </a:solidFill>
            </a:endParaRPr>
          </a:p>
        </p:txBody>
      </p:sp>
      <p:sp>
        <p:nvSpPr>
          <p:cNvPr id="20" name="文本框 19"/>
          <p:cNvSpPr txBox="1"/>
          <p:nvPr>
            <p:custDataLst>
              <p:tags r:id="rId5"/>
            </p:custDataLst>
          </p:nvPr>
        </p:nvSpPr>
        <p:spPr>
          <a:xfrm>
            <a:off x="1012825" y="1282065"/>
            <a:ext cx="3660775" cy="703580"/>
          </a:xfrm>
          <a:prstGeom prst="rect">
            <a:avLst/>
          </a:prstGeom>
          <a:noFill/>
        </p:spPr>
        <p:txBody>
          <a:bodyPr wrap="square">
            <a:noAutofit/>
          </a:bodyPr>
          <a:lstStyle/>
          <a:p>
            <a:pPr defTabSz="685800">
              <a:lnSpc>
                <a:spcPct val="150000"/>
              </a:lnSpc>
            </a:pP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《中国共产党思想政治工作条例》（以下简称《条例》）是我们党历史上第一部关于思想政治工作的统领性、综合性基础主干法规，是做好新时代思想政治工作的基本遵循</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4" name="组合 23"/>
          <p:cNvGrpSpPr/>
          <p:nvPr>
            <p:custDataLst>
              <p:tags r:id="rId6"/>
            </p:custDataLst>
          </p:nvPr>
        </p:nvGrpSpPr>
        <p:grpSpPr>
          <a:xfrm>
            <a:off x="659089" y="1356593"/>
            <a:ext cx="277178" cy="282237"/>
            <a:chOff x="2662744" y="876425"/>
            <a:chExt cx="369570" cy="376316"/>
          </a:xfrm>
          <a:solidFill>
            <a:srgbClr val="7030A0"/>
          </a:solidFill>
        </p:grpSpPr>
        <p:sp>
          <p:nvSpPr>
            <p:cNvPr id="25" name="箭头: V 形 27"/>
            <p:cNvSpPr/>
            <p:nvPr>
              <p:custDataLst>
                <p:tags r:id="rId7"/>
              </p:custDataLst>
            </p:nvPr>
          </p:nvSpPr>
          <p:spPr>
            <a:xfrm>
              <a:off x="2662744" y="876425"/>
              <a:ext cx="369570" cy="376316"/>
            </a:xfrm>
            <a:prstGeom prst="chevron">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black"/>
                </a:solidFill>
                <a:latin typeface="OPPOSans R" panose="00020600040101010101" charset="-122"/>
                <a:ea typeface="OPPOSans R" panose="00020600040101010101" charset="-122"/>
              </a:endParaRPr>
            </a:p>
          </p:txBody>
        </p:sp>
        <p:sp>
          <p:nvSpPr>
            <p:cNvPr id="26" name="等腰三角形 25"/>
            <p:cNvSpPr/>
            <p:nvPr>
              <p:custDataLst>
                <p:tags r:id="rId8"/>
              </p:custDataLst>
            </p:nvPr>
          </p:nvSpPr>
          <p:spPr>
            <a:xfrm rot="5400000">
              <a:off x="2652679" y="1026923"/>
              <a:ext cx="99278" cy="75320"/>
            </a:xfrm>
            <a:prstGeom prst="triangle">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white"/>
                </a:solidFill>
                <a:latin typeface="OPPOSans R" panose="00020600040101010101" charset="-122"/>
                <a:ea typeface="OPPOSans R" panose="00020600040101010101" charset="-122"/>
              </a:endParaRPr>
            </a:p>
          </p:txBody>
        </p:sp>
      </p:grpSp>
      <p:pic>
        <p:nvPicPr>
          <p:cNvPr id="6" name="图片 5"/>
          <p:cNvPicPr>
            <a:picLocks noChangeAspect="1"/>
          </p:cNvPicPr>
          <p:nvPr/>
        </p:nvPicPr>
        <p:blipFill>
          <a:blip r:embed="rId9"/>
          <a:srcRect l="1832" r="976" b="-18"/>
          <a:stretch>
            <a:fillRect/>
          </a:stretch>
        </p:blipFill>
        <p:spPr>
          <a:xfrm>
            <a:off x="4750435" y="1062990"/>
            <a:ext cx="4110355" cy="3561080"/>
          </a:xfrm>
          <a:prstGeom prst="rect">
            <a:avLst/>
          </a:prstGeom>
        </p:spPr>
      </p:pic>
      <p:sp>
        <p:nvSpPr>
          <p:cNvPr id="14" name="文本框 13"/>
          <p:cNvSpPr txBox="1"/>
          <p:nvPr>
            <p:custDataLst>
              <p:tags r:id="rId10"/>
            </p:custDataLst>
          </p:nvPr>
        </p:nvSpPr>
        <p:spPr>
          <a:xfrm>
            <a:off x="1012190" y="2272665"/>
            <a:ext cx="3660775" cy="2352040"/>
          </a:xfrm>
          <a:prstGeom prst="rect">
            <a:avLst/>
          </a:prstGeom>
          <a:noFill/>
        </p:spPr>
        <p:txBody>
          <a:bodyPr wrap="square">
            <a:noAutofit/>
          </a:bodyPr>
          <a:lstStyle/>
          <a:p>
            <a:pPr defTabSz="685800">
              <a:lnSpc>
                <a:spcPct val="150000"/>
              </a:lnSpc>
            </a:pP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如何学习《条例》</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indent="0" defTabSz="685800">
              <a:lnSpc>
                <a:spcPct val="150000"/>
              </a:lnSpc>
              <a:buFont typeface="Arial" panose="020B0604020202090204" pitchFamily="34" charset="0"/>
              <a:buNone/>
            </a:pPr>
            <a:r>
              <a:rPr lang="en-US" altLang="zh-CN"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把握核心要义，深化思想认识：深刻理解《条例》出台的重大意义，认识到思想政治工作与自身成长成才的内在联系。</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defTabSz="685800">
              <a:lnSpc>
                <a:spcPct val="150000"/>
              </a:lnSpc>
            </a:pPr>
            <a:r>
              <a:rPr lang="en-US" altLang="zh-CN"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了解《条例》中关于理想信念、科学精神、学术道德、心理健康、爱国主义等内容，不断提升综合素养。</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defTabSz="685800">
              <a:lnSpc>
                <a:spcPct val="150000"/>
              </a:lnSpc>
            </a:pPr>
            <a:r>
              <a:rPr lang="en-US" altLang="zh-CN"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融入学习实践，积极参与学校组织的理论学习、形势政策报告、社会实践、红色研学等活动。</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defTabSz="685800">
              <a:lnSpc>
                <a:spcPct val="150000"/>
              </a:lnSpc>
            </a:pPr>
            <a:r>
              <a:rPr lang="en-US" altLang="zh-CN"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学术担当：将《条例》精神融入学术研究，恪守学术诚信，弘扬科学精神，追求真理，服务社会。</a:t>
            </a:r>
            <a:endParaRPr lang="zh-CN" altLang="en-US" sz="1400" baseline="300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p:nvPr>
            <p:custDataLst>
              <p:tags r:id="rId11"/>
            </p:custDataLst>
          </p:nvPr>
        </p:nvGrpSpPr>
        <p:grpSpPr>
          <a:xfrm>
            <a:off x="658454" y="2347193"/>
            <a:ext cx="277178" cy="282237"/>
            <a:chOff x="2662744" y="876425"/>
            <a:chExt cx="369570" cy="376316"/>
          </a:xfrm>
          <a:solidFill>
            <a:srgbClr val="7030A0"/>
          </a:solidFill>
        </p:grpSpPr>
        <p:sp>
          <p:nvSpPr>
            <p:cNvPr id="16" name="箭头: V 形 27"/>
            <p:cNvSpPr/>
            <p:nvPr>
              <p:custDataLst>
                <p:tags r:id="rId12"/>
              </p:custDataLst>
            </p:nvPr>
          </p:nvSpPr>
          <p:spPr>
            <a:xfrm>
              <a:off x="2662744" y="876425"/>
              <a:ext cx="369570" cy="376316"/>
            </a:xfrm>
            <a:prstGeom prst="chevron">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black"/>
                </a:solidFill>
                <a:latin typeface="OPPOSans R" panose="00020600040101010101" charset="-122"/>
                <a:ea typeface="OPPOSans R" panose="00020600040101010101" charset="-122"/>
              </a:endParaRPr>
            </a:p>
          </p:txBody>
        </p:sp>
        <p:sp>
          <p:nvSpPr>
            <p:cNvPr id="17" name="等腰三角形 16"/>
            <p:cNvSpPr/>
            <p:nvPr>
              <p:custDataLst>
                <p:tags r:id="rId13"/>
              </p:custDataLst>
            </p:nvPr>
          </p:nvSpPr>
          <p:spPr>
            <a:xfrm rot="5400000">
              <a:off x="2652679" y="1026923"/>
              <a:ext cx="99278" cy="75320"/>
            </a:xfrm>
            <a:prstGeom prst="triangle">
              <a:avLst/>
            </a:prstGeom>
            <a:grp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zh-CN" altLang="en-US" sz="1350" kern="0">
                <a:solidFill>
                  <a:prstClr val="white"/>
                </a:solidFill>
                <a:latin typeface="OPPOSans R" panose="00020600040101010101" charset="-122"/>
                <a:ea typeface="OPPOSans R" panose="00020600040101010101" charset="-122"/>
              </a:endParaRPr>
            </a:p>
          </p:txBody>
        </p:sp>
      </p:grpSp>
    </p:spTree>
    <p:custDataLst>
      <p:tags r:id="rId1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9477" y="3354915"/>
            <a:ext cx="2626473" cy="707886"/>
          </a:xfrm>
          <a:prstGeom prst="rect">
            <a:avLst/>
          </a:prstGeom>
          <a:noFill/>
        </p:spPr>
        <p:txBody>
          <a:bodyPr wrap="square">
            <a:spAutoFit/>
          </a:bodyPr>
          <a:lstStyle/>
          <a:p>
            <a:r>
              <a:rPr lang="zh-CN" altLang="en-US" sz="4000" b="1" spc="6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谢谢！</a:t>
            </a:r>
            <a:endParaRPr lang="zh-CN" altLang="en-US" sz="4000" b="1" spc="6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529590" y="4234815"/>
            <a:ext cx="3598545" cy="583565"/>
          </a:xfrm>
          <a:prstGeom prst="rect">
            <a:avLst/>
          </a:prstGeom>
          <a:noFill/>
        </p:spPr>
        <p:txBody>
          <a:bodyPr wrap="square">
            <a:spAutoFit/>
          </a:bodyPr>
          <a:lstStyle/>
          <a:p>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分享</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人：</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周卞思宁</a:t>
            </a:r>
            <a:endPar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4391546" y="4234563"/>
            <a:ext cx="2421297" cy="337185"/>
          </a:xfrm>
          <a:prstGeom prst="rect">
            <a:avLst/>
          </a:prstGeom>
          <a:noFill/>
        </p:spPr>
        <p:txBody>
          <a:bodyPr wrap="square">
            <a:spAutoFit/>
          </a:bodyPr>
          <a:lstStyle/>
          <a:p>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日期：</a:t>
            </a:r>
            <a:r>
              <a:rPr lang="en-US" altLang="zh-CN"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2026</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r>
              <a:rPr lang="en-US" altLang="zh-CN"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月</a:t>
            </a:r>
            <a:endParaRPr lang="zh-CN" altLang="en-US" sz="16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1" cstate="print"/>
          <a:srcRect/>
          <a:stretch>
            <a:fillRect/>
          </a:stretch>
        </p:blipFill>
        <p:spPr>
          <a:xfrm>
            <a:off x="7493000" y="44450"/>
            <a:ext cx="1606550" cy="751384"/>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86.1,&quot;left&quot;:21.8,&quot;top&quot;:73.2,&quot;width&quot;:681.7}"/>
</p:tagLst>
</file>

<file path=ppt/tags/tag2.xml><?xml version="1.0" encoding="utf-8"?>
<p:tagLst xmlns:p="http://schemas.openxmlformats.org/presentationml/2006/main">
  <p:tag name="KSO_WM_DIAGRAM_VIRTUALLY_FRAME" val="{&quot;height&quot;:286.1,&quot;left&quot;:21.8,&quot;top&quot;:73.2,&quot;width&quot;:681.7}"/>
</p:tagLst>
</file>

<file path=ppt/tags/tag3.xml><?xml version="1.0" encoding="utf-8"?>
<p:tagLst xmlns:p="http://schemas.openxmlformats.org/presentationml/2006/main">
  <p:tag name="KSO_WM_DIAGRAM_VIRTUALLY_FRAME" val="{&quot;height&quot;:286.1,&quot;left&quot;:21.8,&quot;top&quot;:73.2,&quot;width&quot;:681.7}"/>
</p:tagLst>
</file>

<file path=ppt/tags/tag4.xml><?xml version="1.0" encoding="utf-8"?>
<p:tagLst xmlns:p="http://schemas.openxmlformats.org/presentationml/2006/main">
  <p:tag name="KSO_WM_DIAGRAM_VIRTUALLY_FRAME" val="{&quot;height&quot;:286.1,&quot;left&quot;:21.8,&quot;top&quot;:73.2,&quot;width&quot;:681.7}"/>
</p:tagLst>
</file>

<file path=ppt/tags/tag5.xml><?xml version="1.0" encoding="utf-8"?>
<p:tagLst xmlns:p="http://schemas.openxmlformats.org/presentationml/2006/main">
  <p:tag name="KSO_WM_DIAGRAM_VIRTUALLY_FRAME" val="{&quot;height&quot;:286.1,&quot;left&quot;:21.8,&quot;top&quot;:73.2,&quot;width&quot;:681.7}"/>
</p:tagLst>
</file>

<file path=ppt/tags/tag6.xml><?xml version="1.0" encoding="utf-8"?>
<p:tagLst xmlns:p="http://schemas.openxmlformats.org/presentationml/2006/main">
  <p:tag name="KSO_WM_DIAGRAM_VIRTUALLY_FRAME" val="{&quot;height&quot;:286.1,&quot;left&quot;:21.8,&quot;top&quot;:73.2,&quot;width&quot;:681.7}"/>
</p:tagLst>
</file>

<file path=ppt/tags/tag7.xml><?xml version="1.0" encoding="utf-8"?>
<p:tagLst xmlns:p="http://schemas.openxmlformats.org/presentationml/2006/main">
  <p:tag name="KSO_WM_DIAGRAM_VIRTUALLY_FRAME" val="{&quot;height&quot;:286.1,&quot;left&quot;:21.8,&quot;top&quot;:73.2,&quot;width&quot;:681.7}"/>
</p:tagLst>
</file>

<file path=ppt/tags/tag8.xml><?xml version="1.0" encoding="utf-8"?>
<p:tagLst xmlns:p="http://schemas.openxmlformats.org/presentationml/2006/main">
  <p:tag name="KSO_WM_DIAGRAM_VIRTUALLY_FRAME" val="{&quot;height&quot;:286.1,&quot;left&quot;:21.8,&quot;top&quot;:73.2,&quot;width&quot;:681.7}"/>
</p:tagLst>
</file>

<file path=ppt/tags/tag9.xml><?xml version="1.0" encoding="utf-8"?>
<p:tagLst xmlns:p="http://schemas.openxmlformats.org/presentationml/2006/main">
  <p:tag name="KSO_WM_DIAGRAM_VIRTUALLY_FRAME" val="{&quot;height&quot;:286.1,&quot;left&quot;:21.8,&quot;top&quot;:73.2,&quot;width&quot;:681.7}"/>
</p:tagLst>
</file>

<file path=ppt/tags/tag10.xml><?xml version="1.0" encoding="utf-8"?>
<p:tagLst xmlns:p="http://schemas.openxmlformats.org/presentationml/2006/main">
  <p:tag name="KSO_WM_DIAGRAM_VIRTUALLY_FRAME" val="{&quot;height&quot;:286.1,&quot;left&quot;:21.8,&quot;top&quot;:73.2,&quot;width&quot;:681.7}"/>
</p:tagLst>
</file>

<file path=ppt/tags/tag1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1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2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3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4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5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5.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6.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7.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8.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69.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0.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1.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2.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3.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4.xml><?xml version="1.0" encoding="utf-8"?>
<p:tagLst xmlns:p="http://schemas.openxmlformats.org/presentationml/2006/main">
  <p:tag name="KSO_WM_DIAGRAM_VIRTUALLY_FRAME" val="{&quot;height&quot;:349.2738582677165,&quot;left&quot;:25.363543307086612,&quot;top&quot;:55.42251968503937,&quot;width&quot;:672.3293700787401}"/>
</p:tagLst>
</file>

<file path=ppt/tags/tag75.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76.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77.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78.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79.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0.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1.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2.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3.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4.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5.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6.xml><?xml version="1.0" encoding="utf-8"?>
<p:tagLst xmlns:p="http://schemas.openxmlformats.org/presentationml/2006/main">
  <p:tag name="KSO_WM_DIAGRAM_VIRTUALLY_FRAME" val="{&quot;height&quot;:257.8706299212598,&quot;left&quot;:58.41125984251969,&quot;top&quot;:98.12937007874015,&quot;width&quot;:600.6985039370079}"/>
</p:tagLst>
</file>

<file path=ppt/tags/tag8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89.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0.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1.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2.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3.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4.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5.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6.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7.xml><?xml version="1.0" encoding="utf-8"?>
<p:tagLst xmlns:p="http://schemas.openxmlformats.org/presentationml/2006/main">
  <p:tag name="KSO_WM_DIAGRAM_VIRTUALLY_FRAME" val="{&quot;height&quot;:311.4623622047244,&quot;left&quot;:-0.5454330708661417,&quot;top&quot;:93.8103937007874,&quot;width&quot;:721.0908661417322}"/>
</p:tagLst>
</file>

<file path=ppt/tags/tag9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1726</Words>
  <Application>WPS 文字</Application>
  <PresentationFormat>全屏显示(16:9)</PresentationFormat>
  <Paragraphs>88</Paragraphs>
  <Slides>8</Slides>
  <Notes>15</Notes>
  <HiddenSlides>0</HiddenSlides>
  <MMClips>0</MMClips>
  <ScaleCrop>false</ScaleCrop>
  <HeadingPairs>
    <vt:vector size="6" baseType="variant">
      <vt:variant>
        <vt:lpstr>已用的字体</vt:lpstr>
      </vt:variant>
      <vt:variant>
        <vt:i4>44</vt:i4>
      </vt:variant>
      <vt:variant>
        <vt:lpstr>主题</vt:lpstr>
      </vt:variant>
      <vt:variant>
        <vt:i4>8</vt:i4>
      </vt:variant>
      <vt:variant>
        <vt:lpstr>幻灯片标题</vt:lpstr>
      </vt:variant>
      <vt:variant>
        <vt:i4>8</vt:i4>
      </vt:variant>
    </vt:vector>
  </HeadingPairs>
  <TitlesOfParts>
    <vt:vector size="60" baseType="lpstr">
      <vt:lpstr>Arial</vt:lpstr>
      <vt:lpstr>宋体</vt:lpstr>
      <vt:lpstr>Wingdings</vt:lpstr>
      <vt:lpstr>Arial</vt:lpstr>
      <vt:lpstr>庞门正道标题体</vt:lpstr>
      <vt:lpstr>微软雅黑</vt:lpstr>
      <vt:lpstr>汉仪旗黑</vt:lpstr>
      <vt:lpstr>Alibaba PuHuiTi M</vt:lpstr>
      <vt:lpstr>Poppins</vt:lpstr>
      <vt:lpstr>Alibaba PuHuiTi</vt:lpstr>
      <vt:lpstr>Calibri</vt:lpstr>
      <vt:lpstr>等线</vt:lpstr>
      <vt:lpstr>Wingdings</vt:lpstr>
      <vt:lpstr>Times New Roman</vt:lpstr>
      <vt:lpstr>思源黑体 CN Bold</vt:lpstr>
      <vt:lpstr>思源黑体 CN Regular</vt:lpstr>
      <vt:lpstr>OPPOSans R</vt:lpstr>
      <vt:lpstr>微软雅黑 Light</vt:lpstr>
      <vt:lpstr>League Gothic Regular</vt:lpstr>
      <vt:lpstr>inpin heiti</vt:lpstr>
      <vt:lpstr>FontAwesome</vt:lpstr>
      <vt:lpstr>宋体</vt:lpstr>
      <vt:lpstr>Arial Unicode MS</vt:lpstr>
      <vt:lpstr>宋体-简</vt:lpstr>
      <vt:lpstr>Helvetica Neue</vt:lpstr>
      <vt:lpstr>Thonburi</vt:lpstr>
      <vt:lpstr>苹方-简</vt:lpstr>
      <vt:lpstr>黑体-简</vt:lpstr>
      <vt:lpstr>Alibaba PuHuiTi</vt:lpstr>
      <vt:lpstr>Alibaba PuHuiTi M</vt:lpstr>
      <vt:lpstr>FontAwesome</vt:lpstr>
      <vt:lpstr>League Gothic Regular</vt:lpstr>
      <vt:lpstr>OPPOSans R</vt:lpstr>
      <vt:lpstr>Wingdings</vt:lpstr>
      <vt:lpstr>inpin heiti</vt:lpstr>
      <vt:lpstr>庞门正道标题体</vt:lpstr>
      <vt:lpstr>微软雅黑</vt:lpstr>
      <vt:lpstr>微软雅黑 Light</vt:lpstr>
      <vt:lpstr>思源黑体 CN Bold</vt:lpstr>
      <vt:lpstr>思源黑体 CN Regular</vt:lpstr>
      <vt:lpstr>等线</vt:lpstr>
      <vt:lpstr>-apple-system</vt:lpstr>
      <vt:lpstr>PingFang SC</vt:lpstr>
      <vt:lpstr>Apple Color Emoji</vt:lpstr>
      <vt:lpstr>Office 主题​​</vt:lpstr>
      <vt:lpstr>5_自定义设计方案</vt:lpstr>
      <vt:lpstr>自定义设计方案</vt:lpstr>
      <vt:lpstr>3_自定义设计方案</vt:lpstr>
      <vt:lpstr>1_自定义设计方案</vt:lpstr>
      <vt:lpstr>6_自定义设计方案</vt:lpstr>
      <vt:lpstr>4_自定义设计方案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张国栋</dc:creator>
  <cp:lastModifiedBy>周卞思宁(2025210759)</cp:lastModifiedBy>
  <cp:revision>11</cp:revision>
  <dcterms:created xsi:type="dcterms:W3CDTF">2026-01-16T14:15:32Z</dcterms:created>
  <dcterms:modified xsi:type="dcterms:W3CDTF">2026-01-16T14:15:32Z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DAB07FBFAAED483FB33B060457F95032_12</vt:lpwstr>
  </property>
  <property fmtid="{D5CDD505-2E9C-101B-9397-08002B2CF9AE}" pid="3" name="KSOProductBuildVer">
    <vt:lpwstr>2052-12.1.24663.24663</vt:lpwstr>
  </property>
</Properties>
</file>